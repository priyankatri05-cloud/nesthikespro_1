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Rentals</c:v>
                </c:pt>
              </c:strCache>
            </c:strRef>
          </c:tx>
          <c:spPr>
            <a:solidFill>
              <a:srgbClr val="028090"/>
            </a:solidFill>
            <a:effectLst/>
          </c:spPr>
          <c:invertIfNegative val="0"/>
          <c:dLbls>
            <c:numFmt formatCode="#,##0" sourceLinked="0"/>
            <c:spPr>
              <a:noFill/>
              <a:ln>
                <a:noFill/>
              </a:ln>
              <a:effectLst/>
            </c:spPr>
            <c:txPr>
              <a:bodyPr/>
              <a:lstStyle/>
              <a:p>
                <a:pPr>
                  <a:defRPr sz="1200" b="0" i="0" u="none" strike="noStrike">
                    <a:solidFill>
                      <a:srgbClr val="022C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January</c:v>
                </c:pt>
                <c:pt idx="1">
                  <c:v>February</c:v>
                </c:pt>
              </c:strCache>
            </c:strRef>
          </c:cat>
          <c:val>
            <c:numRef>
              <c:f>Sheet1!$B$2:$B$3</c:f>
              <c:numCache>
                <c:formatCode>General</c:formatCode>
                <c:ptCount val="2"/>
                <c:pt idx="0">
                  <c:v>38189</c:v>
                </c:pt>
                <c:pt idx="1">
                  <c:v>20115</c:v>
                </c:pt>
              </c:numCache>
            </c:numRef>
          </c:val>
          <c:extLst>
            <c:ext xmlns:c16="http://schemas.microsoft.com/office/drawing/2014/chart" uri="{C3380CC4-5D6E-409C-BE32-E72D297353CC}">
              <c16:uniqueId val="{00000000-B826-49FD-9068-5E4EAE894E5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7EB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Riders</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523D-4C51-9EDB-B802DDF458A1}"/>
              </c:ext>
            </c:extLst>
          </c:dPt>
          <c:dPt>
            <c:idx val="1"/>
            <c:bubble3D val="0"/>
            <c:spPr>
              <a:solidFill>
                <a:srgbClr val="F4A300"/>
              </a:solidFill>
              <a:effectLst/>
            </c:spPr>
            <c:extLst>
              <c:ext xmlns:c16="http://schemas.microsoft.com/office/drawing/2014/chart" uri="{C3380CC4-5D6E-409C-BE32-E72D297353CC}">
                <c16:uniqueId val="{00000003-523D-4C51-9EDB-B802DDF458A1}"/>
              </c:ext>
            </c:extLst>
          </c:dPt>
          <c:dLbls>
            <c:dLbl>
              <c:idx val="0"/>
              <c:layout/>
              <c:numFmt formatCode="0%" sourceLinked="0"/>
              <c:spPr/>
              <c:txPr>
                <a:bodyPr/>
                <a:lstStyle/>
                <a:p>
                  <a:pPr>
                    <a:defRPr sz="1200" b="0" i="0" u="none" strike="noStrike">
                      <a:solidFill>
                        <a:srgbClr val="FFFFFF"/>
                      </a:solidFill>
                      <a:latin typeface="Arial"/>
                    </a:defRPr>
                  </a:pPr>
                  <a:endParaRPr lang="en-US"/>
                </a:p>
              </c:txPr>
              <c:dLblPos val="ct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523D-4C51-9EDB-B802DDF458A1}"/>
                </c:ext>
              </c:extLst>
            </c:dLbl>
            <c:dLbl>
              <c:idx val="1"/>
              <c:layout/>
              <c:numFmt formatCode="0%" sourceLinked="0"/>
              <c:spPr/>
              <c:txPr>
                <a:bodyPr/>
                <a:lstStyle/>
                <a:p>
                  <a:pPr>
                    <a:defRPr sz="1200" b="0" i="0" u="none" strike="noStrike">
                      <a:solidFill>
                        <a:srgbClr val="FFFFFF"/>
                      </a:solidFill>
                      <a:latin typeface="Arial"/>
                    </a:defRPr>
                  </a:pPr>
                  <a:endParaRPr lang="en-US"/>
                </a:p>
              </c:txPr>
              <c:dLblPos val="ct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523D-4C51-9EDB-B802DDF458A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Registered</c:v>
                </c:pt>
                <c:pt idx="1">
                  <c:v>Casual</c:v>
                </c:pt>
              </c:strCache>
            </c:strRef>
          </c:cat>
          <c:val>
            <c:numRef>
              <c:f>Sheet1!$B$2:$B$3</c:f>
              <c:numCache>
                <c:formatCode>General</c:formatCode>
                <c:ptCount val="2"/>
                <c:pt idx="0">
                  <c:v>53383</c:v>
                </c:pt>
                <c:pt idx="1">
                  <c:v>4921</c:v>
                </c:pt>
              </c:numCache>
            </c:numRef>
          </c:val>
          <c:extLst>
            <c:ext xmlns:c16="http://schemas.microsoft.com/office/drawing/2014/chart" uri="{C3380CC4-5D6E-409C-BE32-E72D297353CC}">
              <c16:uniqueId val="{00000004-523D-4C51-9EDB-B802DDF458A1}"/>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txPr>
        <a:bodyPr/>
        <a:lstStyle/>
        <a:p>
          <a:pPr>
            <a:defRPr sz="1100">
              <a:solidFill>
                <a:srgbClr val="6B7B80"/>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rentals</c:v>
                </c:pt>
              </c:strCache>
            </c:strRef>
          </c:tx>
          <c:spPr>
            <a:ln w="31750" cap="flat">
              <a:solidFill>
                <a:srgbClr val="028090"/>
              </a:solidFill>
              <a:prstDash val="solid"/>
              <a:round/>
            </a:ln>
            <a:effectLst/>
          </c:spPr>
          <c:marker>
            <c:symbol val="circle"/>
            <c:size val="5"/>
            <c:spPr>
              <a:solidFill>
                <a:srgbClr val="028090"/>
              </a:solidFill>
              <a:ln w="9525" cap="flat">
                <a:solidFill>
                  <a:srgbClr val="028090"/>
                </a:solidFill>
                <a:prstDash val="solid"/>
                <a:round/>
              </a:ln>
              <a:effectLst/>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16.3</c:v>
                </c:pt>
                <c:pt idx="1">
                  <c:v>10.7</c:v>
                </c:pt>
                <c:pt idx="2">
                  <c:v>7.2</c:v>
                </c:pt>
                <c:pt idx="3">
                  <c:v>4.9000000000000004</c:v>
                </c:pt>
                <c:pt idx="4">
                  <c:v>2.2000000000000002</c:v>
                </c:pt>
                <c:pt idx="5">
                  <c:v>4.2</c:v>
                </c:pt>
                <c:pt idx="6">
                  <c:v>19.600000000000001</c:v>
                </c:pt>
                <c:pt idx="7">
                  <c:v>54.4</c:v>
                </c:pt>
                <c:pt idx="8">
                  <c:v>128.30000000000001</c:v>
                </c:pt>
                <c:pt idx="9">
                  <c:v>87.4</c:v>
                </c:pt>
                <c:pt idx="10">
                  <c:v>53.6</c:v>
                </c:pt>
                <c:pt idx="11">
                  <c:v>59.4</c:v>
                </c:pt>
                <c:pt idx="12">
                  <c:v>76.3</c:v>
                </c:pt>
                <c:pt idx="13">
                  <c:v>78.5</c:v>
                </c:pt>
                <c:pt idx="14">
                  <c:v>74.400000000000006</c:v>
                </c:pt>
                <c:pt idx="15">
                  <c:v>78</c:v>
                </c:pt>
                <c:pt idx="16">
                  <c:v>89.3</c:v>
                </c:pt>
                <c:pt idx="17">
                  <c:v>140.19999999999999</c:v>
                </c:pt>
                <c:pt idx="18">
                  <c:v>122.9</c:v>
                </c:pt>
                <c:pt idx="19">
                  <c:v>85.1</c:v>
                </c:pt>
                <c:pt idx="20">
                  <c:v>61.8</c:v>
                </c:pt>
                <c:pt idx="21">
                  <c:v>46.4</c:v>
                </c:pt>
                <c:pt idx="22">
                  <c:v>35.1</c:v>
                </c:pt>
                <c:pt idx="23">
                  <c:v>25.2</c:v>
                </c:pt>
              </c:numCache>
            </c:numRef>
          </c:val>
          <c:smooth val="0"/>
          <c:extLst>
            <c:ext xmlns:c16="http://schemas.microsoft.com/office/drawing/2014/chart" uri="{C3380CC4-5D6E-409C-BE32-E72D297353CC}">
              <c16:uniqueId val="{00000000-676A-45D6-97AD-0384DC9D475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7B80"/>
                    </a:solidFill>
                    <a:latin typeface="Arial"/>
                  </a:defRPr>
                </a:pPr>
                <a:r>
                  <a:rPr lang="en-US" sz="1100" b="0" i="0" u="none" strike="noStrike">
                    <a:solidFill>
                      <a:srgbClr val="6B7B80"/>
                    </a:solidFill>
                    <a:latin typeface="Arial"/>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7EBEC"/>
              </a:solidFill>
              <a:prstDash val="solid"/>
              <a:round/>
            </a:ln>
          </c:spPr>
        </c:majorGridlines>
        <c:title>
          <c:tx>
            <c:rich>
              <a:bodyPr/>
              <a:lstStyle/>
              <a:p>
                <a:pPr>
                  <a:defRPr sz="1100" b="0" i="0" u="none" strike="noStrike">
                    <a:solidFill>
                      <a:srgbClr val="6B7B80"/>
                    </a:solidFill>
                    <a:latin typeface="Arial"/>
                  </a:defRPr>
                </a:pPr>
                <a:r>
                  <a:rPr lang="en-US" sz="1100" b="0" i="0" u="none" strike="noStrike">
                    <a:solidFill>
                      <a:srgbClr val="6B7B80"/>
                    </a:solidFill>
                    <a:latin typeface="Arial"/>
                  </a:rPr>
                  <a:t>Avg rentals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rentals/hr</c:v>
                </c:pt>
              </c:strCache>
            </c:strRef>
          </c:tx>
          <c:spPr>
            <a:solidFill>
              <a:srgbClr val="05668D"/>
            </a:solidFill>
            <a:effectLst/>
          </c:spPr>
          <c:invertIfNegative val="0"/>
          <c:dLbls>
            <c:numFmt formatCode="#,##0" sourceLinked="0"/>
            <c:spPr>
              <a:noFill/>
              <a:ln>
                <a:noFill/>
              </a:ln>
              <a:effectLst/>
            </c:spPr>
            <c:txPr>
              <a:bodyPr/>
              <a:lstStyle/>
              <a:p>
                <a:pPr>
                  <a:defRPr sz="1200" b="0" i="0" u="none" strike="noStrike">
                    <a:solidFill>
                      <a:srgbClr val="022C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Weekday</c:v>
                </c:pt>
                <c:pt idx="1">
                  <c:v>Weekend</c:v>
                </c:pt>
                <c:pt idx="2">
                  <c:v>Holiday</c:v>
                </c:pt>
              </c:strCache>
            </c:strRef>
          </c:cat>
          <c:val>
            <c:numRef>
              <c:f>Sheet1!$B$2:$B$4</c:f>
              <c:numCache>
                <c:formatCode>General</c:formatCode>
                <c:ptCount val="3"/>
                <c:pt idx="0">
                  <c:v>63.3</c:v>
                </c:pt>
                <c:pt idx="1">
                  <c:v>48.1</c:v>
                </c:pt>
                <c:pt idx="2">
                  <c:v>41.7</c:v>
                </c:pt>
              </c:numCache>
            </c:numRef>
          </c:val>
          <c:extLst>
            <c:ext xmlns:c16="http://schemas.microsoft.com/office/drawing/2014/chart" uri="{C3380CC4-5D6E-409C-BE32-E72D297353CC}">
              <c16:uniqueId val="{00000000-D37C-4B03-AC39-067F2032FC9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7EB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rentals</c:v>
                </c:pt>
              </c:strCache>
            </c:strRef>
          </c:tx>
          <c:spPr>
            <a:solidFill>
              <a:srgbClr val="028090"/>
            </a:solidFill>
            <a:effectLst/>
          </c:spPr>
          <c:invertIfNegative val="0"/>
          <c:dLbls>
            <c:numFmt formatCode="#,##0" sourceLinked="0"/>
            <c:spPr>
              <a:noFill/>
              <a:ln>
                <a:noFill/>
              </a:ln>
              <a:effectLst/>
            </c:spPr>
            <c:txPr>
              <a:bodyPr/>
              <a:lstStyle/>
              <a:p>
                <a:pPr>
                  <a:defRPr sz="1100" b="0" i="0" u="none" strike="noStrike">
                    <a:solidFill>
                      <a:srgbClr val="022C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Sun</c:v>
                </c:pt>
                <c:pt idx="1">
                  <c:v>Mon</c:v>
                </c:pt>
                <c:pt idx="2">
                  <c:v>Tue</c:v>
                </c:pt>
                <c:pt idx="3">
                  <c:v>Wed</c:v>
                </c:pt>
                <c:pt idx="4">
                  <c:v>Thu</c:v>
                </c:pt>
                <c:pt idx="5">
                  <c:v>Fri</c:v>
                </c:pt>
                <c:pt idx="6">
                  <c:v>Sat</c:v>
                </c:pt>
              </c:strCache>
            </c:strRef>
          </c:cat>
          <c:val>
            <c:numRef>
              <c:f>Sheet1!$B$2:$B$8</c:f>
              <c:numCache>
                <c:formatCode>General</c:formatCode>
                <c:ptCount val="7"/>
                <c:pt idx="0">
                  <c:v>49.5</c:v>
                </c:pt>
                <c:pt idx="1">
                  <c:v>56.7</c:v>
                </c:pt>
                <c:pt idx="2">
                  <c:v>66</c:v>
                </c:pt>
                <c:pt idx="3">
                  <c:v>61.4</c:v>
                </c:pt>
                <c:pt idx="4">
                  <c:v>67.7</c:v>
                </c:pt>
                <c:pt idx="5">
                  <c:v>65.900000000000006</c:v>
                </c:pt>
                <c:pt idx="6">
                  <c:v>46.7</c:v>
                </c:pt>
              </c:numCache>
            </c:numRef>
          </c:val>
          <c:extLst>
            <c:ext xmlns:c16="http://schemas.microsoft.com/office/drawing/2014/chart" uri="{C3380CC4-5D6E-409C-BE32-E72D297353CC}">
              <c16:uniqueId val="{00000000-FB32-43AB-ABA5-8A914CF6CF5C}"/>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7EB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rentals/hr</c:v>
                </c:pt>
              </c:strCache>
            </c:strRef>
          </c:tx>
          <c:spPr>
            <a:solidFill>
              <a:srgbClr val="028090"/>
            </a:solidFill>
            <a:effectLst/>
          </c:spPr>
          <c:invertIfNegative val="0"/>
          <c:dLbls>
            <c:numFmt formatCode="#,##0" sourceLinked="0"/>
            <c:spPr>
              <a:noFill/>
              <a:ln>
                <a:noFill/>
              </a:ln>
              <a:effectLst/>
            </c:spPr>
            <c:txPr>
              <a:bodyPr/>
              <a:lstStyle/>
              <a:p>
                <a:pPr>
                  <a:defRPr sz="1200" b="0" i="0" u="none" strike="noStrike">
                    <a:solidFill>
                      <a:srgbClr val="022C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Clear</c:v>
                </c:pt>
                <c:pt idx="1">
                  <c:v>Mist / Cloudy</c:v>
                </c:pt>
                <c:pt idx="2">
                  <c:v>Light Rain / Snow</c:v>
                </c:pt>
                <c:pt idx="3">
                  <c:v>Heavy Rain / Snow</c:v>
                </c:pt>
              </c:strCache>
            </c:strRef>
          </c:cat>
          <c:val>
            <c:numRef>
              <c:f>Sheet1!$B$2:$B$5</c:f>
              <c:numCache>
                <c:formatCode>General</c:formatCode>
                <c:ptCount val="4"/>
                <c:pt idx="0">
                  <c:v>61.7</c:v>
                </c:pt>
                <c:pt idx="1">
                  <c:v>58.6</c:v>
                </c:pt>
                <c:pt idx="2">
                  <c:v>33.200000000000003</c:v>
                </c:pt>
                <c:pt idx="3">
                  <c:v>36</c:v>
                </c:pt>
              </c:numCache>
            </c:numRef>
          </c:val>
          <c:extLst>
            <c:ext xmlns:c16="http://schemas.microsoft.com/office/drawing/2014/chart" uri="{C3380CC4-5D6E-409C-BE32-E72D297353CC}">
              <c16:uniqueId val="{00000000-38F1-464D-AA87-FB5F79E56ED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7EB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c:v>
                </c:pt>
              </c:strCache>
            </c:strRef>
          </c:tx>
          <c:spPr>
            <a:solidFill>
              <a:srgbClr val="028090"/>
            </a:solidFill>
            <a:effectLst/>
          </c:spPr>
          <c:invertIfNegative val="0"/>
          <c:dLbls>
            <c:numFmt formatCode="#,##0" sourceLinked="0"/>
            <c:spPr>
              <a:noFill/>
              <a:ln>
                <a:noFill/>
              </a:ln>
              <a:effectLst/>
            </c:spPr>
            <c:txPr>
              <a:bodyPr/>
              <a:lstStyle/>
              <a:p>
                <a:pPr>
                  <a:defRPr sz="1200" b="0" i="0" u="none" strike="noStrike">
                    <a:solidFill>
                      <a:srgbClr val="022C4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Temperature</c:v>
                </c:pt>
                <c:pt idx="1">
                  <c:v>Windspeed</c:v>
                </c:pt>
                <c:pt idx="2">
                  <c:v>Humidity</c:v>
                </c:pt>
              </c:strCache>
            </c:strRef>
          </c:cat>
          <c:val>
            <c:numRef>
              <c:f>Sheet1!$B$2:$B$4</c:f>
              <c:numCache>
                <c:formatCode>General</c:formatCode>
                <c:ptCount val="3"/>
                <c:pt idx="0">
                  <c:v>0.22900000000000001</c:v>
                </c:pt>
                <c:pt idx="1">
                  <c:v>0.104</c:v>
                </c:pt>
                <c:pt idx="2">
                  <c:v>-0.254</c:v>
                </c:pt>
              </c:numCache>
            </c:numRef>
          </c:val>
          <c:extLst>
            <c:ext xmlns:c16="http://schemas.microsoft.com/office/drawing/2014/chart" uri="{C3380CC4-5D6E-409C-BE32-E72D297353CC}">
              <c16:uniqueId val="{00000000-4A5E-44ED-AF9D-B4EFD546BC1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2"/>
        <c:crosses val="autoZero"/>
        <c:auto val="1"/>
        <c:lblAlgn val="ctr"/>
        <c:lblOffset val="100"/>
        <c:noMultiLvlLbl val="1"/>
      </c:catAx>
      <c:valAx>
        <c:axId val="2094734552"/>
        <c:scaling>
          <c:orientation val="minMax"/>
          <c:max val="0.4"/>
          <c:min val="-0.4"/>
        </c:scaling>
        <c:delete val="0"/>
        <c:axPos val="b"/>
        <c:majorGridlines>
          <c:spPr>
            <a:ln w="9525" cap="flat">
              <a:solidFill>
                <a:srgbClr val="E7EB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B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09188-A018-4D58-B959-5BBF6F119AAE}" type="datetimeFigureOut">
              <a:rPr lang="en-US" smtClean="0"/>
              <a:t>7/25/2026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C5660-9206-49CE-A113-7B0B55DF9AE9}" type="slidenum">
              <a:rPr lang="en-US" smtClean="0"/>
              <a:t>‹#›</a:t>
            </a:fld>
            <a:endParaRPr lang="en-US"/>
          </a:p>
        </p:txBody>
      </p:sp>
    </p:spTree>
    <p:extLst>
      <p:ext uri="{BB962C8B-B14F-4D97-AF65-F5344CB8AC3E}">
        <p14:creationId xmlns:p14="http://schemas.microsoft.com/office/powerpoint/2010/main" val="3034627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888858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7506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15990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80467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7390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66353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52139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07669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18076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4741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5198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96997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272F85-0415-4BAB-8BF2-B56E846965D9}"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3452241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72F85-0415-4BAB-8BF2-B56E846965D9}"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3431627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1272F85-0415-4BAB-8BF2-B56E846965D9}"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355508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272F85-0415-4BAB-8BF2-B56E846965D9}"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3019722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272F85-0415-4BAB-8BF2-B56E846965D9}"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164869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272F85-0415-4BAB-8BF2-B56E846965D9}"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404601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272F85-0415-4BAB-8BF2-B56E846965D9}"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3155915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1272F85-0415-4BAB-8BF2-B56E846965D9}"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975278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1272F85-0415-4BAB-8BF2-B56E846965D9}"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252636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72F85-0415-4BAB-8BF2-B56E846965D9}"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2095469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72F85-0415-4BAB-8BF2-B56E846965D9}"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506F0-7B1F-45CD-8E31-021ACB3F9AF4}" type="slidenum">
              <a:rPr lang="en-US" smtClean="0"/>
              <a:t>‹#›</a:t>
            </a:fld>
            <a:endParaRPr lang="en-US"/>
          </a:p>
        </p:txBody>
      </p:sp>
    </p:spTree>
    <p:extLst>
      <p:ext uri="{BB962C8B-B14F-4D97-AF65-F5344CB8AC3E}">
        <p14:creationId xmlns:p14="http://schemas.microsoft.com/office/powerpoint/2010/main" val="495489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73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272F85-0415-4BAB-8BF2-B56E846965D9}" type="datetimeFigureOut">
              <a:rPr lang="en-US" smtClean="0"/>
              <a:t>7/25/2026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06F0-7B1F-45CD-8E31-021ACB3F9AF4}" type="slidenum">
              <a:rPr lang="en-US" smtClean="0"/>
              <a:t>‹#›</a:t>
            </a:fld>
            <a:endParaRPr lang="en-US"/>
          </a:p>
        </p:txBody>
      </p:sp>
    </p:spTree>
    <p:extLst>
      <p:ext uri="{BB962C8B-B14F-4D97-AF65-F5344CB8AC3E}">
        <p14:creationId xmlns:p14="http://schemas.microsoft.com/office/powerpoint/2010/main" val="1522271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alpha val="98000"/>
          </a:schemeClr>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28090">
              <a:alpha val="30000"/>
            </a:srgbClr>
          </a:solidFill>
          <a:ln/>
        </p:spPr>
      </p:sp>
      <p:sp>
        <p:nvSpPr>
          <p:cNvPr id="3" name="Shape 1"/>
          <p:cNvSpPr/>
          <p:nvPr/>
        </p:nvSpPr>
        <p:spPr>
          <a:xfrm>
            <a:off x="-2377440" y="4206240"/>
            <a:ext cx="4754880" cy="4754880"/>
          </a:xfrm>
          <a:prstGeom prst="ellipse">
            <a:avLst/>
          </a:prstGeom>
          <a:solidFill>
            <a:srgbClr val="05668D">
              <a:alpha val="30000"/>
            </a:srgbClr>
          </a:solidFill>
          <a:ln/>
        </p:spPr>
      </p:sp>
      <p:sp>
        <p:nvSpPr>
          <p:cNvPr id="4" name="Text 2"/>
          <p:cNvSpPr/>
          <p:nvPr/>
        </p:nvSpPr>
        <p:spPr>
          <a:xfrm>
            <a:off x="822960" y="2331720"/>
            <a:ext cx="105156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BIKE-SHARING DEMAND ANALYSIS</a:t>
            </a:r>
            <a:endParaRPr lang="en-US" sz="4000" dirty="0"/>
          </a:p>
        </p:txBody>
      </p:sp>
      <p:sp>
        <p:nvSpPr>
          <p:cNvPr id="5" name="Text 3"/>
          <p:cNvSpPr/>
          <p:nvPr/>
        </p:nvSpPr>
        <p:spPr>
          <a:xfrm>
            <a:off x="822960" y="3337560"/>
            <a:ext cx="9601200" cy="640080"/>
          </a:xfrm>
          <a:prstGeom prst="rect">
            <a:avLst/>
          </a:prstGeom>
          <a:noFill/>
          <a:ln/>
        </p:spPr>
        <p:txBody>
          <a:bodyPr wrap="square" rtlCol="0" anchor="ctr"/>
          <a:lstStyle/>
          <a:p>
            <a:pPr marL="0" indent="0">
              <a:buNone/>
            </a:pPr>
            <a:r>
              <a:rPr lang="en-US" sz="1800" i="1" dirty="0">
                <a:solidFill>
                  <a:srgbClr val="CFE8E6"/>
                </a:solidFill>
                <a:latin typeface="Calibri" pitchFamily="34" charset="0"/>
                <a:ea typeface="Calibri" pitchFamily="34" charset="-122"/>
                <a:cs typeface="Calibri" pitchFamily="34" charset="-120"/>
              </a:rPr>
              <a:t>What 1,000 hours of ridership data tells us about when, why, and how people ride</a:t>
            </a:r>
            <a:endParaRPr lang="en-US" sz="1800" dirty="0"/>
          </a:p>
        </p:txBody>
      </p:sp>
      <p:sp>
        <p:nvSpPr>
          <p:cNvPr id="6" name="Text 4"/>
          <p:cNvSpPr/>
          <p:nvPr/>
        </p:nvSpPr>
        <p:spPr>
          <a:xfrm>
            <a:off x="822960" y="6035040"/>
            <a:ext cx="9144000" cy="365760"/>
          </a:xfrm>
          <a:prstGeom prst="rect">
            <a:avLst/>
          </a:prstGeom>
          <a:noFill/>
          <a:ln/>
        </p:spPr>
        <p:txBody>
          <a:bodyPr wrap="square" rtlCol="0" anchor="ctr"/>
          <a:lstStyle/>
          <a:p>
            <a:pPr marL="0" indent="0">
              <a:buNone/>
            </a:pPr>
            <a:r>
              <a:rPr lang="en-US" sz="1300" dirty="0">
                <a:solidFill>
                  <a:srgbClr val="8FB9C4"/>
                </a:solidFill>
                <a:latin typeface="Calibri" pitchFamily="34" charset="0"/>
                <a:ea typeface="Calibri" pitchFamily="34" charset="-122"/>
                <a:cs typeface="Calibri" pitchFamily="34" charset="-120"/>
              </a:rPr>
              <a:t>NextHikes IT Solutions  |  Excel-Based Analytics Project  |  July 2026</a:t>
            </a:r>
            <a:endParaRPr lang="en-US" sz="1300" dirty="0"/>
          </a:p>
        </p:txBody>
      </p:sp>
      <p:sp>
        <p:nvSpPr>
          <p:cNvPr id="7" name="Shape 5"/>
          <p:cNvSpPr/>
          <p:nvPr/>
        </p:nvSpPr>
        <p:spPr>
          <a:xfrm>
            <a:off x="822960" y="2148840"/>
            <a:ext cx="822960" cy="54864"/>
          </a:xfrm>
          <a:prstGeom prst="rect">
            <a:avLst/>
          </a:prstGeom>
          <a:solidFill>
            <a:srgbClr val="F4A300"/>
          </a:solidFill>
          <a:ln/>
        </p:spPr>
      </p:sp>
    </p:spTree>
    <p:extLst>
      <p:ext uri="{BB962C8B-B14F-4D97-AF65-F5344CB8AC3E}">
        <p14:creationId xmlns:p14="http://schemas.microsoft.com/office/powerpoint/2010/main" val="82569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200" b="1" dirty="0">
                <a:solidFill>
                  <a:srgbClr val="022C43"/>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548640" y="1417320"/>
            <a:ext cx="685800" cy="685800"/>
          </a:xfrm>
          <a:prstGeom prst="ellipse">
            <a:avLst/>
          </a:prstGeom>
          <a:solidFill>
            <a:srgbClr val="028090"/>
          </a:solidFill>
          <a:ln/>
        </p:spPr>
      </p:sp>
      <p:pic>
        <p:nvPicPr>
          <p:cNvPr id="4" name="Image 0" descr="icons/icon_database.png"/>
          <p:cNvPicPr>
            <a:picLocks noChangeAspect="1"/>
          </p:cNvPicPr>
          <p:nvPr/>
        </p:nvPicPr>
        <p:blipFill>
          <a:blip r:embed="rId3"/>
          <a:stretch>
            <a:fillRect/>
          </a:stretch>
        </p:blipFill>
        <p:spPr>
          <a:xfrm>
            <a:off x="726948" y="1595628"/>
            <a:ext cx="329184" cy="329184"/>
          </a:xfrm>
          <a:prstGeom prst="rect">
            <a:avLst/>
          </a:prstGeom>
        </p:spPr>
      </p:pic>
      <p:sp>
        <p:nvSpPr>
          <p:cNvPr id="5" name="Text 2"/>
          <p:cNvSpPr/>
          <p:nvPr/>
        </p:nvSpPr>
        <p:spPr>
          <a:xfrm>
            <a:off x="1417320" y="137160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Data &amp; Method</a:t>
            </a:r>
            <a:endParaRPr lang="en-US" sz="1600" dirty="0"/>
          </a:p>
        </p:txBody>
      </p:sp>
      <p:sp>
        <p:nvSpPr>
          <p:cNvPr id="6" name="Text 3"/>
          <p:cNvSpPr/>
          <p:nvPr/>
        </p:nvSpPr>
        <p:spPr>
          <a:xfrm>
            <a:off x="1417320" y="173736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Three source files, merged and profiled</a:t>
            </a:r>
            <a:endParaRPr lang="en-US" sz="1250" dirty="0"/>
          </a:p>
        </p:txBody>
      </p:sp>
      <p:sp>
        <p:nvSpPr>
          <p:cNvPr id="7" name="Shape 4"/>
          <p:cNvSpPr/>
          <p:nvPr/>
        </p:nvSpPr>
        <p:spPr>
          <a:xfrm>
            <a:off x="6446520" y="1417320"/>
            <a:ext cx="685800" cy="685800"/>
          </a:xfrm>
          <a:prstGeom prst="ellipse">
            <a:avLst/>
          </a:prstGeom>
          <a:solidFill>
            <a:srgbClr val="028090"/>
          </a:solidFill>
          <a:ln/>
        </p:spPr>
      </p:sp>
      <p:pic>
        <p:nvPicPr>
          <p:cNvPr id="8" name="Image 1" descr="icons/icon_filter.png"/>
          <p:cNvPicPr>
            <a:picLocks noChangeAspect="1"/>
          </p:cNvPicPr>
          <p:nvPr/>
        </p:nvPicPr>
        <p:blipFill>
          <a:blip r:embed="rId4"/>
          <a:stretch>
            <a:fillRect/>
          </a:stretch>
        </p:blipFill>
        <p:spPr>
          <a:xfrm>
            <a:off x="6624828" y="1595628"/>
            <a:ext cx="329184" cy="329184"/>
          </a:xfrm>
          <a:prstGeom prst="rect">
            <a:avLst/>
          </a:prstGeom>
        </p:spPr>
      </p:pic>
      <p:sp>
        <p:nvSpPr>
          <p:cNvPr id="9" name="Text 5"/>
          <p:cNvSpPr/>
          <p:nvPr/>
        </p:nvSpPr>
        <p:spPr>
          <a:xfrm>
            <a:off x="7315200" y="137160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Cleaning &amp; Prep</a:t>
            </a:r>
            <a:endParaRPr lang="en-US" sz="1600" dirty="0"/>
          </a:p>
        </p:txBody>
      </p:sp>
      <p:sp>
        <p:nvSpPr>
          <p:cNvPr id="10" name="Text 6"/>
          <p:cNvSpPr/>
          <p:nvPr/>
        </p:nvSpPr>
        <p:spPr>
          <a:xfrm>
            <a:off x="7315200" y="173736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Keys matched, gaps checked, features engineered</a:t>
            </a:r>
            <a:endParaRPr lang="en-US" sz="1250" dirty="0"/>
          </a:p>
        </p:txBody>
      </p:sp>
      <p:sp>
        <p:nvSpPr>
          <p:cNvPr id="11" name="Shape 7"/>
          <p:cNvSpPr/>
          <p:nvPr/>
        </p:nvSpPr>
        <p:spPr>
          <a:xfrm>
            <a:off x="548640" y="2834640"/>
            <a:ext cx="685800" cy="685800"/>
          </a:xfrm>
          <a:prstGeom prst="ellipse">
            <a:avLst/>
          </a:prstGeom>
          <a:solidFill>
            <a:srgbClr val="028090"/>
          </a:solidFill>
          <a:ln/>
        </p:spPr>
      </p:sp>
      <p:pic>
        <p:nvPicPr>
          <p:cNvPr id="12" name="Image 2" descr="icons/icon_barchart.png"/>
          <p:cNvPicPr>
            <a:picLocks noChangeAspect="1"/>
          </p:cNvPicPr>
          <p:nvPr/>
        </p:nvPicPr>
        <p:blipFill>
          <a:blip r:embed="rId5"/>
          <a:stretch>
            <a:fillRect/>
          </a:stretch>
        </p:blipFill>
        <p:spPr>
          <a:xfrm>
            <a:off x="726948" y="3012948"/>
            <a:ext cx="329184" cy="329184"/>
          </a:xfrm>
          <a:prstGeom prst="rect">
            <a:avLst/>
          </a:prstGeom>
        </p:spPr>
      </p:pic>
      <p:sp>
        <p:nvSpPr>
          <p:cNvPr id="13" name="Text 8"/>
          <p:cNvSpPr/>
          <p:nvPr/>
        </p:nvSpPr>
        <p:spPr>
          <a:xfrm>
            <a:off x="1417320" y="278892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Demand Patterns</a:t>
            </a:r>
            <a:endParaRPr lang="en-US" sz="1600" dirty="0"/>
          </a:p>
        </p:txBody>
      </p:sp>
      <p:sp>
        <p:nvSpPr>
          <p:cNvPr id="14" name="Text 9"/>
          <p:cNvSpPr/>
          <p:nvPr/>
        </p:nvSpPr>
        <p:spPr>
          <a:xfrm>
            <a:off x="1417320" y="315468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Hourly, weekday and monthly rhythms</a:t>
            </a:r>
            <a:endParaRPr lang="en-US" sz="1250" dirty="0"/>
          </a:p>
        </p:txBody>
      </p:sp>
      <p:sp>
        <p:nvSpPr>
          <p:cNvPr id="15" name="Shape 10"/>
          <p:cNvSpPr/>
          <p:nvPr/>
        </p:nvSpPr>
        <p:spPr>
          <a:xfrm>
            <a:off x="6446520" y="2834640"/>
            <a:ext cx="685800" cy="685800"/>
          </a:xfrm>
          <a:prstGeom prst="ellipse">
            <a:avLst/>
          </a:prstGeom>
          <a:solidFill>
            <a:srgbClr val="028090"/>
          </a:solidFill>
          <a:ln/>
        </p:spPr>
      </p:sp>
      <p:pic>
        <p:nvPicPr>
          <p:cNvPr id="16" name="Image 3" descr="icons/icon_cloudrain.png"/>
          <p:cNvPicPr>
            <a:picLocks noChangeAspect="1"/>
          </p:cNvPicPr>
          <p:nvPr/>
        </p:nvPicPr>
        <p:blipFill>
          <a:blip r:embed="rId6"/>
          <a:stretch>
            <a:fillRect/>
          </a:stretch>
        </p:blipFill>
        <p:spPr>
          <a:xfrm>
            <a:off x="6624828" y="3012948"/>
            <a:ext cx="329184" cy="329184"/>
          </a:xfrm>
          <a:prstGeom prst="rect">
            <a:avLst/>
          </a:prstGeom>
        </p:spPr>
      </p:pic>
      <p:sp>
        <p:nvSpPr>
          <p:cNvPr id="17" name="Text 11"/>
          <p:cNvSpPr/>
          <p:nvPr/>
        </p:nvSpPr>
        <p:spPr>
          <a:xfrm>
            <a:off x="7315200" y="278892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Weather &amp; Correlation</a:t>
            </a:r>
            <a:endParaRPr lang="en-US" sz="1600" dirty="0"/>
          </a:p>
        </p:txBody>
      </p:sp>
      <p:sp>
        <p:nvSpPr>
          <p:cNvPr id="18" name="Text 12"/>
          <p:cNvSpPr/>
          <p:nvPr/>
        </p:nvSpPr>
        <p:spPr>
          <a:xfrm>
            <a:off x="7315200" y="315468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How conditions move ridership</a:t>
            </a:r>
            <a:endParaRPr lang="en-US" sz="1250" dirty="0"/>
          </a:p>
        </p:txBody>
      </p:sp>
      <p:sp>
        <p:nvSpPr>
          <p:cNvPr id="19" name="Shape 13"/>
          <p:cNvSpPr/>
          <p:nvPr/>
        </p:nvSpPr>
        <p:spPr>
          <a:xfrm>
            <a:off x="548640" y="4251960"/>
            <a:ext cx="685800" cy="685800"/>
          </a:xfrm>
          <a:prstGeom prst="ellipse">
            <a:avLst/>
          </a:prstGeom>
          <a:solidFill>
            <a:srgbClr val="028090"/>
          </a:solidFill>
          <a:ln/>
        </p:spPr>
      </p:sp>
      <p:pic>
        <p:nvPicPr>
          <p:cNvPr id="20" name="Image 4" descr="icons/icon_trendingup.png"/>
          <p:cNvPicPr>
            <a:picLocks noChangeAspect="1"/>
          </p:cNvPicPr>
          <p:nvPr/>
        </p:nvPicPr>
        <p:blipFill>
          <a:blip r:embed="rId7"/>
          <a:stretch>
            <a:fillRect/>
          </a:stretch>
        </p:blipFill>
        <p:spPr>
          <a:xfrm>
            <a:off x="726948" y="4430268"/>
            <a:ext cx="329184" cy="329184"/>
          </a:xfrm>
          <a:prstGeom prst="rect">
            <a:avLst/>
          </a:prstGeom>
        </p:spPr>
      </p:pic>
      <p:sp>
        <p:nvSpPr>
          <p:cNvPr id="21" name="Text 14"/>
          <p:cNvSpPr/>
          <p:nvPr/>
        </p:nvSpPr>
        <p:spPr>
          <a:xfrm>
            <a:off x="1417320" y="420624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Forecast</a:t>
            </a:r>
            <a:endParaRPr lang="en-US" sz="1600" dirty="0"/>
          </a:p>
        </p:txBody>
      </p:sp>
      <p:sp>
        <p:nvSpPr>
          <p:cNvPr id="22" name="Text 15"/>
          <p:cNvSpPr/>
          <p:nvPr/>
        </p:nvSpPr>
        <p:spPr>
          <a:xfrm>
            <a:off x="1417320" y="457200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Where demand is headed next</a:t>
            </a:r>
            <a:endParaRPr lang="en-US" sz="1250" dirty="0"/>
          </a:p>
        </p:txBody>
      </p:sp>
      <p:sp>
        <p:nvSpPr>
          <p:cNvPr id="23" name="Shape 16"/>
          <p:cNvSpPr/>
          <p:nvPr/>
        </p:nvSpPr>
        <p:spPr>
          <a:xfrm>
            <a:off x="6446520" y="4251960"/>
            <a:ext cx="685800" cy="685800"/>
          </a:xfrm>
          <a:prstGeom prst="ellipse">
            <a:avLst/>
          </a:prstGeom>
          <a:solidFill>
            <a:srgbClr val="028090"/>
          </a:solidFill>
          <a:ln/>
        </p:spPr>
      </p:sp>
      <p:pic>
        <p:nvPicPr>
          <p:cNvPr id="24" name="Image 5" descr="icons/icon_target.png"/>
          <p:cNvPicPr>
            <a:picLocks noChangeAspect="1"/>
          </p:cNvPicPr>
          <p:nvPr/>
        </p:nvPicPr>
        <p:blipFill>
          <a:blip r:embed="rId8"/>
          <a:stretch>
            <a:fillRect/>
          </a:stretch>
        </p:blipFill>
        <p:spPr>
          <a:xfrm>
            <a:off x="6624828" y="4430268"/>
            <a:ext cx="329184" cy="329184"/>
          </a:xfrm>
          <a:prstGeom prst="rect">
            <a:avLst/>
          </a:prstGeom>
        </p:spPr>
      </p:pic>
      <p:sp>
        <p:nvSpPr>
          <p:cNvPr id="25" name="Text 17"/>
          <p:cNvSpPr/>
          <p:nvPr/>
        </p:nvSpPr>
        <p:spPr>
          <a:xfrm>
            <a:off x="7315200" y="4206240"/>
            <a:ext cx="4480560" cy="365760"/>
          </a:xfrm>
          <a:prstGeom prst="rect">
            <a:avLst/>
          </a:prstGeom>
          <a:noFill/>
          <a:ln/>
        </p:spPr>
        <p:txBody>
          <a:bodyPr wrap="square" rtlCol="0" anchor="ctr"/>
          <a:lstStyle/>
          <a:p>
            <a:pPr marL="0" indent="0">
              <a:buNone/>
            </a:pPr>
            <a:r>
              <a:rPr lang="en-US" sz="1600" b="1" dirty="0">
                <a:solidFill>
                  <a:srgbClr val="022C43"/>
                </a:solidFill>
                <a:latin typeface="Cambria" pitchFamily="34" charset="0"/>
                <a:ea typeface="Cambria" pitchFamily="34" charset="-122"/>
                <a:cs typeface="Cambria" pitchFamily="34" charset="-120"/>
              </a:rPr>
              <a:t>Recommendations</a:t>
            </a:r>
            <a:endParaRPr lang="en-US" sz="1600" dirty="0"/>
          </a:p>
        </p:txBody>
      </p:sp>
      <p:sp>
        <p:nvSpPr>
          <p:cNvPr id="26" name="Text 18"/>
          <p:cNvSpPr/>
          <p:nvPr/>
        </p:nvSpPr>
        <p:spPr>
          <a:xfrm>
            <a:off x="7315200" y="4572000"/>
            <a:ext cx="4480560" cy="640080"/>
          </a:xfrm>
          <a:prstGeom prst="rect">
            <a:avLst/>
          </a:prstGeom>
          <a:noFill/>
          <a:ln/>
        </p:spPr>
        <p:txBody>
          <a:bodyPr wrap="square" rtlCol="0" anchor="ctr"/>
          <a:lstStyle/>
          <a:p>
            <a:pPr marL="0" indent="0">
              <a:buNone/>
            </a:pPr>
            <a:r>
              <a:rPr lang="en-US" sz="1250" dirty="0">
                <a:solidFill>
                  <a:srgbClr val="6B7B80"/>
                </a:solidFill>
                <a:latin typeface="Calibri" pitchFamily="34" charset="0"/>
                <a:ea typeface="Calibri" pitchFamily="34" charset="-122"/>
                <a:cs typeface="Calibri" pitchFamily="34" charset="-120"/>
              </a:rPr>
              <a:t>Turning the analysis into action</a:t>
            </a:r>
            <a:endParaRPr lang="en-US" sz="1250" dirty="0"/>
          </a:p>
        </p:txBody>
      </p:sp>
    </p:spTree>
    <p:extLst>
      <p:ext uri="{BB962C8B-B14F-4D97-AF65-F5344CB8AC3E}">
        <p14:creationId xmlns:p14="http://schemas.microsoft.com/office/powerpoint/2010/main" val="221594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28090"/>
          </a:solidFill>
          <a:ln/>
        </p:spPr>
      </p:sp>
      <p:sp>
        <p:nvSpPr>
          <p:cNvPr id="3" name="Text 1"/>
          <p:cNvSpPr/>
          <p:nvPr/>
        </p:nvSpPr>
        <p:spPr>
          <a:xfrm>
            <a:off x="548640" y="2377440"/>
            <a:ext cx="3291840" cy="17373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Problem</a:t>
            </a:r>
            <a:endParaRPr lang="en-US" sz="3400" dirty="0"/>
          </a:p>
        </p:txBody>
      </p:sp>
      <p:sp>
        <p:nvSpPr>
          <p:cNvPr id="4" name="Shape 2"/>
          <p:cNvSpPr/>
          <p:nvPr/>
        </p:nvSpPr>
        <p:spPr>
          <a:xfrm>
            <a:off x="548640" y="1280160"/>
            <a:ext cx="822960" cy="822960"/>
          </a:xfrm>
          <a:prstGeom prst="ellipse">
            <a:avLst/>
          </a:prstGeom>
          <a:solidFill>
            <a:srgbClr val="05668D"/>
          </a:solidFill>
          <a:ln/>
        </p:spPr>
      </p:sp>
      <p:pic>
        <p:nvPicPr>
          <p:cNvPr id="5" name="Image 0" descr="icons/icon_mappin.png"/>
          <p:cNvPicPr>
            <a:picLocks noChangeAspect="1"/>
          </p:cNvPicPr>
          <p:nvPr/>
        </p:nvPicPr>
        <p:blipFill>
          <a:blip r:embed="rId3"/>
          <a:stretch>
            <a:fillRect/>
          </a:stretch>
        </p:blipFill>
        <p:spPr>
          <a:xfrm>
            <a:off x="762610" y="1494130"/>
            <a:ext cx="395021" cy="395021"/>
          </a:xfrm>
          <a:prstGeom prst="rect">
            <a:avLst/>
          </a:prstGeom>
        </p:spPr>
      </p:pic>
      <p:sp>
        <p:nvSpPr>
          <p:cNvPr id="6" name="Text 3"/>
          <p:cNvSpPr/>
          <p:nvPr/>
        </p:nvSpPr>
        <p:spPr>
          <a:xfrm>
            <a:off x="4617720" y="548640"/>
            <a:ext cx="6949440" cy="457200"/>
          </a:xfrm>
          <a:prstGeom prst="rect">
            <a:avLst/>
          </a:prstGeom>
          <a:noFill/>
          <a:ln/>
        </p:spPr>
        <p:txBody>
          <a:bodyPr wrap="square" rtlCol="0" anchor="ctr"/>
          <a:lstStyle/>
          <a:p>
            <a:pPr marL="0" indent="0">
              <a:buNone/>
            </a:pPr>
            <a:r>
              <a:rPr lang="en-US" sz="2000" b="1" dirty="0">
                <a:solidFill>
                  <a:srgbClr val="022C43"/>
                </a:solidFill>
                <a:latin typeface="Cambria" pitchFamily="34" charset="0"/>
                <a:ea typeface="Cambria" pitchFamily="34" charset="-122"/>
                <a:cs typeface="Cambria" pitchFamily="34" charset="-120"/>
              </a:rPr>
              <a:t>Why this matters</a:t>
            </a:r>
            <a:endParaRPr lang="en-US" sz="2000" dirty="0"/>
          </a:p>
        </p:txBody>
      </p:sp>
      <p:sp>
        <p:nvSpPr>
          <p:cNvPr id="7" name="Text 4"/>
          <p:cNvSpPr/>
          <p:nvPr/>
        </p:nvSpPr>
        <p:spPr>
          <a:xfrm>
            <a:off x="4617720" y="1051560"/>
            <a:ext cx="6949440" cy="1188720"/>
          </a:xfrm>
          <a:prstGeom prst="rect">
            <a:avLst/>
          </a:prstGeom>
          <a:noFill/>
          <a:ln/>
        </p:spPr>
        <p:txBody>
          <a:bodyPr wrap="square" rtlCol="0" anchor="ctr"/>
          <a:lstStyle/>
          <a:p>
            <a:pPr marL="0" indent="0">
              <a:lnSpc>
                <a:spcPct val="125000"/>
              </a:lnSpc>
              <a:buNone/>
            </a:pPr>
            <a:r>
              <a:rPr lang="en-US" sz="1500" dirty="0">
                <a:solidFill>
                  <a:srgbClr val="2B2B2B"/>
                </a:solidFill>
                <a:latin typeface="Calibri" pitchFamily="34" charset="0"/>
                <a:ea typeface="Calibri" pitchFamily="34" charset="-122"/>
                <a:cs typeface="Calibri" pitchFamily="34" charset="-120"/>
              </a:rPr>
              <a:t>Bike-sharing systems generate rich hourly usage data. Understanding how weather, time of day, day type and holidays affect rental demand lets an operator plan bike redistribution, staffing and maintenance more efficiently.</a:t>
            </a:r>
            <a:endParaRPr lang="en-US" sz="1500" dirty="0"/>
          </a:p>
        </p:txBody>
      </p:sp>
      <p:sp>
        <p:nvSpPr>
          <p:cNvPr id="8" name="Text 5"/>
          <p:cNvSpPr/>
          <p:nvPr/>
        </p:nvSpPr>
        <p:spPr>
          <a:xfrm>
            <a:off x="4617720" y="2423160"/>
            <a:ext cx="6949440" cy="41148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This project</a:t>
            </a:r>
            <a:endParaRPr lang="en-US" sz="1600" dirty="0"/>
          </a:p>
        </p:txBody>
      </p:sp>
      <p:sp>
        <p:nvSpPr>
          <p:cNvPr id="9" name="Text 6"/>
          <p:cNvSpPr/>
          <p:nvPr/>
        </p:nvSpPr>
        <p:spPr>
          <a:xfrm>
            <a:off x="4617720" y="2880360"/>
            <a:ext cx="6949440" cy="3108960"/>
          </a:xfrm>
          <a:prstGeom prst="rect">
            <a:avLst/>
          </a:prstGeom>
          <a:noFill/>
          <a:ln/>
        </p:spPr>
        <p:txBody>
          <a:bodyPr wrap="square" rtlCol="0" anchor="ctr"/>
          <a:lstStyle/>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Cleans and merges three raw hourly data extracts in Excel</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Engineers analysis-ready features (day type, weather label, time slot)</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Surfaces demand patterns by hour, day and weather condition</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Projects near-term demand and flags anomalies</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Turns the findings into concrete planning recommendations</a:t>
            </a:r>
            <a:endParaRPr lang="en-US" sz="1450" dirty="0"/>
          </a:p>
        </p:txBody>
      </p:sp>
    </p:spTree>
    <p:extLst>
      <p:ext uri="{BB962C8B-B14F-4D97-AF65-F5344CB8AC3E}">
        <p14:creationId xmlns:p14="http://schemas.microsoft.com/office/powerpoint/2010/main" val="840296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Data Sources &amp; Method</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50" i="1" dirty="0">
                <a:solidFill>
                  <a:srgbClr val="6B7B80"/>
                </a:solidFill>
                <a:latin typeface="Calibri" pitchFamily="34" charset="0"/>
                <a:ea typeface="Calibri" pitchFamily="34" charset="-122"/>
                <a:cs typeface="Calibri" pitchFamily="34" charset="-120"/>
              </a:rPr>
              <a:t>Three raw extracts, merged on a shared record key</a:t>
            </a:r>
            <a:endParaRPr lang="en-US" sz="1350" dirty="0"/>
          </a:p>
        </p:txBody>
      </p:sp>
      <p:sp>
        <p:nvSpPr>
          <p:cNvPr id="4" name="Shape 2"/>
          <p:cNvSpPr/>
          <p:nvPr/>
        </p:nvSpPr>
        <p:spPr>
          <a:xfrm>
            <a:off x="548640" y="1508760"/>
            <a:ext cx="3520440" cy="1691640"/>
          </a:xfrm>
          <a:prstGeom prst="roundRect">
            <a:avLst>
              <a:gd name="adj" fmla="val 4324"/>
            </a:avLst>
          </a:prstGeom>
          <a:solidFill>
            <a:srgbClr val="F7F9FA"/>
          </a:solidFill>
          <a:ln w="12700">
            <a:solidFill>
              <a:srgbClr val="E1E7E8"/>
            </a:solidFill>
            <a:prstDash val="solid"/>
          </a:ln>
        </p:spPr>
      </p:sp>
      <p:sp>
        <p:nvSpPr>
          <p:cNvPr id="5" name="Text 3"/>
          <p:cNvSpPr/>
          <p:nvPr/>
        </p:nvSpPr>
        <p:spPr>
          <a:xfrm>
            <a:off x="777240" y="1673352"/>
            <a:ext cx="306324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Dataset 1</a:t>
            </a:r>
            <a:endParaRPr lang="en-US" sz="1500" dirty="0"/>
          </a:p>
        </p:txBody>
      </p:sp>
      <p:sp>
        <p:nvSpPr>
          <p:cNvPr id="6" name="Text 4"/>
          <p:cNvSpPr/>
          <p:nvPr/>
        </p:nvSpPr>
        <p:spPr>
          <a:xfrm>
            <a:off x="777240" y="2039112"/>
            <a:ext cx="3063240" cy="548640"/>
          </a:xfrm>
          <a:prstGeom prst="rect">
            <a:avLst/>
          </a:prstGeom>
          <a:noFill/>
          <a:ln/>
        </p:spPr>
        <p:txBody>
          <a:bodyPr wrap="square" rtlCol="0" anchor="ctr"/>
          <a:lstStyle/>
          <a:p>
            <a:pPr marL="0" indent="0">
              <a:buNone/>
            </a:pPr>
            <a:r>
              <a:rPr lang="en-US" sz="1250" b="1" dirty="0">
                <a:solidFill>
                  <a:srgbClr val="022C43"/>
                </a:solidFill>
                <a:latin typeface="Calibri" pitchFamily="34" charset="0"/>
                <a:ea typeface="Calibri" pitchFamily="34" charset="-122"/>
                <a:cs typeface="Calibri" pitchFamily="34" charset="-120"/>
              </a:rPr>
              <a:t>Calendar &amp; weather category fields</a:t>
            </a:r>
            <a:endParaRPr lang="en-US" sz="1250" dirty="0"/>
          </a:p>
        </p:txBody>
      </p:sp>
      <p:sp>
        <p:nvSpPr>
          <p:cNvPr id="7" name="Text 5"/>
          <p:cNvSpPr/>
          <p:nvPr/>
        </p:nvSpPr>
        <p:spPr>
          <a:xfrm>
            <a:off x="777240" y="2587752"/>
            <a:ext cx="3063240" cy="502920"/>
          </a:xfrm>
          <a:prstGeom prst="rect">
            <a:avLst/>
          </a:prstGeom>
          <a:noFill/>
          <a:ln/>
        </p:spPr>
        <p:txBody>
          <a:bodyPr wrap="square" rtlCol="0" anchor="ctr"/>
          <a:lstStyle/>
          <a:p>
            <a:pPr marL="0" indent="0">
              <a:buNone/>
            </a:pPr>
            <a:r>
              <a:rPr lang="en-US" sz="1050" i="1" dirty="0">
                <a:solidFill>
                  <a:srgbClr val="6B7B80"/>
                </a:solidFill>
                <a:latin typeface="Calibri" pitchFamily="34" charset="0"/>
                <a:ea typeface="Calibri" pitchFamily="34" charset="-122"/>
                <a:cs typeface="Calibri" pitchFamily="34" charset="-120"/>
              </a:rPr>
              <a:t>instant, dteday, season, weathersit…</a:t>
            </a:r>
            <a:endParaRPr lang="en-US" sz="1050" dirty="0"/>
          </a:p>
        </p:txBody>
      </p:sp>
      <p:sp>
        <p:nvSpPr>
          <p:cNvPr id="8" name="Shape 6"/>
          <p:cNvSpPr/>
          <p:nvPr/>
        </p:nvSpPr>
        <p:spPr>
          <a:xfrm>
            <a:off x="4389120" y="1508760"/>
            <a:ext cx="3520440" cy="1691640"/>
          </a:xfrm>
          <a:prstGeom prst="roundRect">
            <a:avLst>
              <a:gd name="adj" fmla="val 4324"/>
            </a:avLst>
          </a:prstGeom>
          <a:solidFill>
            <a:srgbClr val="F7F9FA"/>
          </a:solidFill>
          <a:ln w="12700">
            <a:solidFill>
              <a:srgbClr val="E1E7E8"/>
            </a:solidFill>
            <a:prstDash val="solid"/>
          </a:ln>
        </p:spPr>
      </p:sp>
      <p:sp>
        <p:nvSpPr>
          <p:cNvPr id="9" name="Text 7"/>
          <p:cNvSpPr/>
          <p:nvPr/>
        </p:nvSpPr>
        <p:spPr>
          <a:xfrm>
            <a:off x="4617720" y="1673352"/>
            <a:ext cx="306324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Dataset 2</a:t>
            </a:r>
            <a:endParaRPr lang="en-US" sz="1500" dirty="0"/>
          </a:p>
        </p:txBody>
      </p:sp>
      <p:sp>
        <p:nvSpPr>
          <p:cNvPr id="10" name="Text 8"/>
          <p:cNvSpPr/>
          <p:nvPr/>
        </p:nvSpPr>
        <p:spPr>
          <a:xfrm>
            <a:off x="4617720" y="2039112"/>
            <a:ext cx="3063240" cy="548640"/>
          </a:xfrm>
          <a:prstGeom prst="rect">
            <a:avLst/>
          </a:prstGeom>
          <a:noFill/>
          <a:ln/>
        </p:spPr>
        <p:txBody>
          <a:bodyPr wrap="square" rtlCol="0" anchor="ctr"/>
          <a:lstStyle/>
          <a:p>
            <a:pPr marL="0" indent="0">
              <a:buNone/>
            </a:pPr>
            <a:r>
              <a:rPr lang="en-US" sz="1250" b="1" dirty="0">
                <a:solidFill>
                  <a:srgbClr val="022C43"/>
                </a:solidFill>
                <a:latin typeface="Calibri" pitchFamily="34" charset="0"/>
                <a:ea typeface="Calibri" pitchFamily="34" charset="-122"/>
                <a:cs typeface="Calibri" pitchFamily="34" charset="-120"/>
              </a:rPr>
              <a:t>Continuous weather &amp; ridership fields</a:t>
            </a:r>
            <a:endParaRPr lang="en-US" sz="1250" dirty="0"/>
          </a:p>
        </p:txBody>
      </p:sp>
      <p:sp>
        <p:nvSpPr>
          <p:cNvPr id="11" name="Text 9"/>
          <p:cNvSpPr/>
          <p:nvPr/>
        </p:nvSpPr>
        <p:spPr>
          <a:xfrm>
            <a:off x="4617720" y="2587752"/>
            <a:ext cx="3063240" cy="502920"/>
          </a:xfrm>
          <a:prstGeom prst="rect">
            <a:avLst/>
          </a:prstGeom>
          <a:noFill/>
          <a:ln/>
        </p:spPr>
        <p:txBody>
          <a:bodyPr wrap="square" rtlCol="0" anchor="ctr"/>
          <a:lstStyle/>
          <a:p>
            <a:pPr marL="0" indent="0">
              <a:buNone/>
            </a:pPr>
            <a:r>
              <a:rPr lang="en-US" sz="1050" i="1" dirty="0">
                <a:solidFill>
                  <a:srgbClr val="6B7B80"/>
                </a:solidFill>
                <a:latin typeface="Calibri" pitchFamily="34" charset="0"/>
                <a:ea typeface="Calibri" pitchFamily="34" charset="-122"/>
                <a:cs typeface="Calibri" pitchFamily="34" charset="-120"/>
              </a:rPr>
              <a:t>atemp, hum, windspeed, casual, registered, cnt</a:t>
            </a:r>
            <a:endParaRPr lang="en-US" sz="1050" dirty="0"/>
          </a:p>
        </p:txBody>
      </p:sp>
      <p:sp>
        <p:nvSpPr>
          <p:cNvPr id="12" name="Shape 10"/>
          <p:cNvSpPr/>
          <p:nvPr/>
        </p:nvSpPr>
        <p:spPr>
          <a:xfrm>
            <a:off x="8229600" y="1508760"/>
            <a:ext cx="3520440" cy="1691640"/>
          </a:xfrm>
          <a:prstGeom prst="roundRect">
            <a:avLst>
              <a:gd name="adj" fmla="val 4324"/>
            </a:avLst>
          </a:prstGeom>
          <a:solidFill>
            <a:srgbClr val="F7F9FA"/>
          </a:solidFill>
          <a:ln w="12700">
            <a:solidFill>
              <a:srgbClr val="E1E7E8"/>
            </a:solidFill>
            <a:prstDash val="solid"/>
          </a:ln>
        </p:spPr>
      </p:sp>
      <p:sp>
        <p:nvSpPr>
          <p:cNvPr id="13" name="Text 11"/>
          <p:cNvSpPr/>
          <p:nvPr/>
        </p:nvSpPr>
        <p:spPr>
          <a:xfrm>
            <a:off x="8458200" y="1673352"/>
            <a:ext cx="306324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Dataset 3</a:t>
            </a:r>
            <a:endParaRPr lang="en-US" sz="1500" dirty="0"/>
          </a:p>
        </p:txBody>
      </p:sp>
      <p:sp>
        <p:nvSpPr>
          <p:cNvPr id="14" name="Text 12"/>
          <p:cNvSpPr/>
          <p:nvPr/>
        </p:nvSpPr>
        <p:spPr>
          <a:xfrm>
            <a:off x="8458200" y="2039112"/>
            <a:ext cx="3063240" cy="548640"/>
          </a:xfrm>
          <a:prstGeom prst="rect">
            <a:avLst/>
          </a:prstGeom>
          <a:noFill/>
          <a:ln/>
        </p:spPr>
        <p:txBody>
          <a:bodyPr wrap="square" rtlCol="0" anchor="ctr"/>
          <a:lstStyle/>
          <a:p>
            <a:pPr marL="0" indent="0">
              <a:buNone/>
            </a:pPr>
            <a:r>
              <a:rPr lang="en-US" sz="1250" b="1" dirty="0">
                <a:solidFill>
                  <a:srgbClr val="022C43"/>
                </a:solidFill>
                <a:latin typeface="Calibri" pitchFamily="34" charset="0"/>
                <a:ea typeface="Calibri" pitchFamily="34" charset="-122"/>
                <a:cs typeface="Calibri" pitchFamily="34" charset="-120"/>
              </a:rPr>
              <a:t>Later date range, fields already combined</a:t>
            </a:r>
            <a:endParaRPr lang="en-US" sz="1250" dirty="0"/>
          </a:p>
        </p:txBody>
      </p:sp>
      <p:sp>
        <p:nvSpPr>
          <p:cNvPr id="15" name="Text 13"/>
          <p:cNvSpPr/>
          <p:nvPr/>
        </p:nvSpPr>
        <p:spPr>
          <a:xfrm>
            <a:off x="8458200" y="2587752"/>
            <a:ext cx="3063240" cy="502920"/>
          </a:xfrm>
          <a:prstGeom prst="rect">
            <a:avLst/>
          </a:prstGeom>
          <a:noFill/>
          <a:ln/>
        </p:spPr>
        <p:txBody>
          <a:bodyPr wrap="square" rtlCol="0" anchor="ctr"/>
          <a:lstStyle/>
          <a:p>
            <a:pPr marL="0" indent="0">
              <a:buNone/>
            </a:pPr>
            <a:r>
              <a:rPr lang="en-US" sz="1050" i="1" dirty="0">
                <a:solidFill>
                  <a:srgbClr val="6B7B80"/>
                </a:solidFill>
                <a:latin typeface="Calibri" pitchFamily="34" charset="0"/>
                <a:ea typeface="Calibri" pitchFamily="34" charset="-122"/>
                <a:cs typeface="Calibri" pitchFamily="34" charset="-120"/>
              </a:rPr>
              <a:t>extends the timeline through Feb 14, 2011</a:t>
            </a:r>
            <a:endParaRPr lang="en-US" sz="1050" dirty="0"/>
          </a:p>
        </p:txBody>
      </p:sp>
      <p:sp>
        <p:nvSpPr>
          <p:cNvPr id="16" name="Text 14"/>
          <p:cNvSpPr/>
          <p:nvPr/>
        </p:nvSpPr>
        <p:spPr>
          <a:xfrm>
            <a:off x="548640" y="3520440"/>
            <a:ext cx="36576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Method</a:t>
            </a:r>
            <a:endParaRPr lang="en-US" sz="1600" dirty="0"/>
          </a:p>
        </p:txBody>
      </p:sp>
      <p:sp>
        <p:nvSpPr>
          <p:cNvPr id="17" name="Shape 15"/>
          <p:cNvSpPr/>
          <p:nvPr/>
        </p:nvSpPr>
        <p:spPr>
          <a:xfrm>
            <a:off x="548640" y="3977640"/>
            <a:ext cx="594360" cy="594360"/>
          </a:xfrm>
          <a:prstGeom prst="ellipse">
            <a:avLst/>
          </a:prstGeom>
          <a:solidFill>
            <a:srgbClr val="05668D"/>
          </a:solidFill>
          <a:ln/>
        </p:spPr>
      </p:sp>
      <p:pic>
        <p:nvPicPr>
          <p:cNvPr id="18" name="Image 0" descr="icons/icon_database.png"/>
          <p:cNvPicPr>
            <a:picLocks noChangeAspect="1"/>
          </p:cNvPicPr>
          <p:nvPr/>
        </p:nvPicPr>
        <p:blipFill>
          <a:blip r:embed="rId3"/>
          <a:stretch>
            <a:fillRect/>
          </a:stretch>
        </p:blipFill>
        <p:spPr>
          <a:xfrm>
            <a:off x="703174" y="4132174"/>
            <a:ext cx="285293" cy="285293"/>
          </a:xfrm>
          <a:prstGeom prst="rect">
            <a:avLst/>
          </a:prstGeom>
        </p:spPr>
      </p:pic>
      <p:sp>
        <p:nvSpPr>
          <p:cNvPr id="19" name="Text 16"/>
          <p:cNvSpPr/>
          <p:nvPr/>
        </p:nvSpPr>
        <p:spPr>
          <a:xfrm>
            <a:off x="548640" y="4663440"/>
            <a:ext cx="2651760" cy="32004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Merge</a:t>
            </a:r>
            <a:endParaRPr lang="en-US" sz="1350" dirty="0"/>
          </a:p>
        </p:txBody>
      </p:sp>
      <p:sp>
        <p:nvSpPr>
          <p:cNvPr id="20" name="Text 17"/>
          <p:cNvSpPr/>
          <p:nvPr/>
        </p:nvSpPr>
        <p:spPr>
          <a:xfrm>
            <a:off x="548640" y="4983480"/>
            <a:ext cx="2651760" cy="822960"/>
          </a:xfrm>
          <a:prstGeom prst="rect">
            <a:avLst/>
          </a:prstGeom>
          <a:noFill/>
          <a:ln/>
        </p:spPr>
        <p:txBody>
          <a:bodyPr wrap="square" rtlCol="0" anchor="ctr"/>
          <a:lstStyle/>
          <a:p>
            <a:pPr marL="0" indent="0">
              <a:buNone/>
            </a:pPr>
            <a:r>
              <a:rPr lang="en-US" sz="1050" dirty="0">
                <a:solidFill>
                  <a:srgbClr val="6B7B80"/>
                </a:solidFill>
                <a:latin typeface="Calibri" pitchFamily="34" charset="0"/>
                <a:ea typeface="Calibri" pitchFamily="34" charset="-122"/>
                <a:cs typeface="Calibri" pitchFamily="34" charset="-120"/>
              </a:rPr>
              <a:t>Matched on the instant record key across all three files</a:t>
            </a:r>
            <a:endParaRPr lang="en-US" sz="1050" dirty="0"/>
          </a:p>
        </p:txBody>
      </p:sp>
      <p:sp>
        <p:nvSpPr>
          <p:cNvPr id="21" name="Shape 18"/>
          <p:cNvSpPr/>
          <p:nvPr/>
        </p:nvSpPr>
        <p:spPr>
          <a:xfrm>
            <a:off x="3456432" y="3977640"/>
            <a:ext cx="594360" cy="594360"/>
          </a:xfrm>
          <a:prstGeom prst="ellipse">
            <a:avLst/>
          </a:prstGeom>
          <a:solidFill>
            <a:srgbClr val="05668D"/>
          </a:solidFill>
          <a:ln/>
        </p:spPr>
      </p:sp>
      <p:pic>
        <p:nvPicPr>
          <p:cNvPr id="22" name="Image 1" descr="icons/icon_filter.png"/>
          <p:cNvPicPr>
            <a:picLocks noChangeAspect="1"/>
          </p:cNvPicPr>
          <p:nvPr/>
        </p:nvPicPr>
        <p:blipFill>
          <a:blip r:embed="rId4"/>
          <a:stretch>
            <a:fillRect/>
          </a:stretch>
        </p:blipFill>
        <p:spPr>
          <a:xfrm>
            <a:off x="3610966" y="4132174"/>
            <a:ext cx="285293" cy="285293"/>
          </a:xfrm>
          <a:prstGeom prst="rect">
            <a:avLst/>
          </a:prstGeom>
        </p:spPr>
      </p:pic>
      <p:sp>
        <p:nvSpPr>
          <p:cNvPr id="23" name="Text 19"/>
          <p:cNvSpPr/>
          <p:nvPr/>
        </p:nvSpPr>
        <p:spPr>
          <a:xfrm>
            <a:off x="3456432" y="4663440"/>
            <a:ext cx="2651760" cy="32004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Clean</a:t>
            </a:r>
            <a:endParaRPr lang="en-US" sz="1350" dirty="0"/>
          </a:p>
        </p:txBody>
      </p:sp>
      <p:sp>
        <p:nvSpPr>
          <p:cNvPr id="24" name="Text 20"/>
          <p:cNvSpPr/>
          <p:nvPr/>
        </p:nvSpPr>
        <p:spPr>
          <a:xfrm>
            <a:off x="3456432" y="4983480"/>
            <a:ext cx="2651760" cy="822960"/>
          </a:xfrm>
          <a:prstGeom prst="rect">
            <a:avLst/>
          </a:prstGeom>
          <a:noFill/>
          <a:ln/>
        </p:spPr>
        <p:txBody>
          <a:bodyPr wrap="square" rtlCol="0" anchor="ctr"/>
          <a:lstStyle/>
          <a:p>
            <a:pPr marL="0" indent="0">
              <a:buNone/>
            </a:pPr>
            <a:r>
              <a:rPr lang="en-US" sz="1050" dirty="0">
                <a:solidFill>
                  <a:srgbClr val="6B7B80"/>
                </a:solidFill>
                <a:latin typeface="Calibri" pitchFamily="34" charset="0"/>
                <a:ea typeface="Calibri" pitchFamily="34" charset="-122"/>
                <a:cs typeface="Calibri" pitchFamily="34" charset="-120"/>
              </a:rPr>
              <a:t>Checked for duplicates, gaps and inconsistent types</a:t>
            </a:r>
            <a:endParaRPr lang="en-US" sz="1050" dirty="0"/>
          </a:p>
        </p:txBody>
      </p:sp>
      <p:sp>
        <p:nvSpPr>
          <p:cNvPr id="25" name="Shape 21"/>
          <p:cNvSpPr/>
          <p:nvPr/>
        </p:nvSpPr>
        <p:spPr>
          <a:xfrm>
            <a:off x="6364224" y="3977640"/>
            <a:ext cx="594360" cy="594360"/>
          </a:xfrm>
          <a:prstGeom prst="ellipse">
            <a:avLst/>
          </a:prstGeom>
          <a:solidFill>
            <a:srgbClr val="05668D"/>
          </a:solidFill>
          <a:ln/>
        </p:spPr>
      </p:sp>
      <p:pic>
        <p:nvPicPr>
          <p:cNvPr id="26" name="Image 2" descr="icons/icon_barchart.png"/>
          <p:cNvPicPr>
            <a:picLocks noChangeAspect="1"/>
          </p:cNvPicPr>
          <p:nvPr/>
        </p:nvPicPr>
        <p:blipFill>
          <a:blip r:embed="rId5"/>
          <a:stretch>
            <a:fillRect/>
          </a:stretch>
        </p:blipFill>
        <p:spPr>
          <a:xfrm>
            <a:off x="6518758" y="4132174"/>
            <a:ext cx="285293" cy="285293"/>
          </a:xfrm>
          <a:prstGeom prst="rect">
            <a:avLst/>
          </a:prstGeom>
        </p:spPr>
      </p:pic>
      <p:sp>
        <p:nvSpPr>
          <p:cNvPr id="27" name="Text 22"/>
          <p:cNvSpPr/>
          <p:nvPr/>
        </p:nvSpPr>
        <p:spPr>
          <a:xfrm>
            <a:off x="6364224" y="4663440"/>
            <a:ext cx="2651760" cy="32004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Analyze</a:t>
            </a:r>
            <a:endParaRPr lang="en-US" sz="1350" dirty="0"/>
          </a:p>
        </p:txBody>
      </p:sp>
      <p:sp>
        <p:nvSpPr>
          <p:cNvPr id="28" name="Text 23"/>
          <p:cNvSpPr/>
          <p:nvPr/>
        </p:nvSpPr>
        <p:spPr>
          <a:xfrm>
            <a:off x="6364224" y="4983480"/>
            <a:ext cx="2651760" cy="822960"/>
          </a:xfrm>
          <a:prstGeom prst="rect">
            <a:avLst/>
          </a:prstGeom>
          <a:noFill/>
          <a:ln/>
        </p:spPr>
        <p:txBody>
          <a:bodyPr wrap="square" rtlCol="0" anchor="ctr"/>
          <a:lstStyle/>
          <a:p>
            <a:pPr marL="0" indent="0">
              <a:buNone/>
            </a:pPr>
            <a:r>
              <a:rPr lang="en-US" sz="1050" dirty="0">
                <a:solidFill>
                  <a:srgbClr val="6B7B80"/>
                </a:solidFill>
                <a:latin typeface="Calibri" pitchFamily="34" charset="0"/>
                <a:ea typeface="Calibri" pitchFamily="34" charset="-122"/>
                <a:cs typeface="Calibri" pitchFamily="34" charset="-120"/>
              </a:rPr>
              <a:t>COUNTIF / SUMIF / STDEV / CORREL, PivotTables &amp; slicers</a:t>
            </a:r>
            <a:endParaRPr lang="en-US" sz="1050" dirty="0"/>
          </a:p>
        </p:txBody>
      </p:sp>
      <p:sp>
        <p:nvSpPr>
          <p:cNvPr id="29" name="Shape 24"/>
          <p:cNvSpPr/>
          <p:nvPr/>
        </p:nvSpPr>
        <p:spPr>
          <a:xfrm>
            <a:off x="9272016" y="3977640"/>
            <a:ext cx="594360" cy="594360"/>
          </a:xfrm>
          <a:prstGeom prst="ellipse">
            <a:avLst/>
          </a:prstGeom>
          <a:solidFill>
            <a:srgbClr val="05668D"/>
          </a:solidFill>
          <a:ln/>
        </p:spPr>
      </p:sp>
      <p:pic>
        <p:nvPicPr>
          <p:cNvPr id="30" name="Image 3" descr="icons/icon_trendingup.png"/>
          <p:cNvPicPr>
            <a:picLocks noChangeAspect="1"/>
          </p:cNvPicPr>
          <p:nvPr/>
        </p:nvPicPr>
        <p:blipFill>
          <a:blip r:embed="rId6"/>
          <a:stretch>
            <a:fillRect/>
          </a:stretch>
        </p:blipFill>
        <p:spPr>
          <a:xfrm>
            <a:off x="9426550" y="4132174"/>
            <a:ext cx="285293" cy="285293"/>
          </a:xfrm>
          <a:prstGeom prst="rect">
            <a:avLst/>
          </a:prstGeom>
        </p:spPr>
      </p:pic>
      <p:sp>
        <p:nvSpPr>
          <p:cNvPr id="31" name="Text 25"/>
          <p:cNvSpPr/>
          <p:nvPr/>
        </p:nvSpPr>
        <p:spPr>
          <a:xfrm>
            <a:off x="9272016" y="4663440"/>
            <a:ext cx="2651760" cy="32004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Forecast</a:t>
            </a:r>
            <a:endParaRPr lang="en-US" sz="1350" dirty="0"/>
          </a:p>
        </p:txBody>
      </p:sp>
      <p:sp>
        <p:nvSpPr>
          <p:cNvPr id="32" name="Text 26"/>
          <p:cNvSpPr/>
          <p:nvPr/>
        </p:nvSpPr>
        <p:spPr>
          <a:xfrm>
            <a:off x="9272016" y="4983480"/>
            <a:ext cx="2651760" cy="822960"/>
          </a:xfrm>
          <a:prstGeom prst="rect">
            <a:avLst/>
          </a:prstGeom>
          <a:noFill/>
          <a:ln/>
        </p:spPr>
        <p:txBody>
          <a:bodyPr wrap="square" rtlCol="0" anchor="ctr"/>
          <a:lstStyle/>
          <a:p>
            <a:pPr marL="0" indent="0">
              <a:buNone/>
            </a:pPr>
            <a:r>
              <a:rPr lang="en-US" sz="1050" dirty="0">
                <a:solidFill>
                  <a:srgbClr val="6B7B80"/>
                </a:solidFill>
                <a:latin typeface="Calibri" pitchFamily="34" charset="0"/>
                <a:ea typeface="Calibri" pitchFamily="34" charset="-122"/>
                <a:cs typeface="Calibri" pitchFamily="34" charset="-120"/>
              </a:rPr>
              <a:t>Excel Forecast Sheet projects near-term demand</a:t>
            </a:r>
            <a:endParaRPr lang="en-US" sz="1050" dirty="0"/>
          </a:p>
        </p:txBody>
      </p:sp>
      <p:sp>
        <p:nvSpPr>
          <p:cNvPr id="33" name="Text 27"/>
          <p:cNvSpPr/>
          <p:nvPr/>
        </p:nvSpPr>
        <p:spPr>
          <a:xfrm>
            <a:off x="548640" y="6080760"/>
            <a:ext cx="10058400" cy="320040"/>
          </a:xfrm>
          <a:prstGeom prst="rect">
            <a:avLst/>
          </a:prstGeom>
          <a:noFill/>
          <a:ln/>
        </p:spPr>
        <p:txBody>
          <a:bodyPr wrap="square" rtlCol="0" anchor="ctr"/>
          <a:lstStyle/>
          <a:p>
            <a:pPr marL="0" indent="0">
              <a:buNone/>
            </a:pPr>
            <a:r>
              <a:rPr lang="en-US" sz="1150" i="1" dirty="0">
                <a:solidFill>
                  <a:srgbClr val="6B7B80"/>
                </a:solidFill>
                <a:latin typeface="Calibri" pitchFamily="34" charset="0"/>
                <a:ea typeface="Calibri" pitchFamily="34" charset="-122"/>
                <a:cs typeface="Calibri" pitchFamily="34" charset="-120"/>
              </a:rPr>
              <a:t>1,000 hourly records  |  Jan 1 – Feb 14, 2011  |  0 duplicate records found</a:t>
            </a:r>
            <a:endParaRPr lang="en-US" sz="1150" dirty="0"/>
          </a:p>
        </p:txBody>
      </p:sp>
    </p:spTree>
    <p:extLst>
      <p:ext uri="{BB962C8B-B14F-4D97-AF65-F5344CB8AC3E}">
        <p14:creationId xmlns:p14="http://schemas.microsoft.com/office/powerpoint/2010/main" val="587257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The Data at a Glance</a:t>
            </a:r>
            <a:endParaRPr lang="en-US" sz="2800" dirty="0"/>
          </a:p>
        </p:txBody>
      </p:sp>
      <p:sp>
        <p:nvSpPr>
          <p:cNvPr id="3" name="Shape 1"/>
          <p:cNvSpPr/>
          <p:nvPr/>
        </p:nvSpPr>
        <p:spPr>
          <a:xfrm>
            <a:off x="548640" y="1371600"/>
            <a:ext cx="2084832" cy="1554480"/>
          </a:xfrm>
          <a:prstGeom prst="roundRect">
            <a:avLst>
              <a:gd name="adj" fmla="val 5294"/>
            </a:avLst>
          </a:prstGeom>
          <a:solidFill>
            <a:srgbClr val="028090"/>
          </a:solidFill>
          <a:ln/>
        </p:spPr>
      </p:sp>
      <p:sp>
        <p:nvSpPr>
          <p:cNvPr id="4" name="Text 2"/>
          <p:cNvSpPr/>
          <p:nvPr/>
        </p:nvSpPr>
        <p:spPr>
          <a:xfrm>
            <a:off x="548640" y="1627632"/>
            <a:ext cx="2084832" cy="68580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58,304</a:t>
            </a:r>
            <a:endParaRPr lang="en-US" sz="3000" dirty="0"/>
          </a:p>
        </p:txBody>
      </p:sp>
      <p:sp>
        <p:nvSpPr>
          <p:cNvPr id="5" name="Text 3"/>
          <p:cNvSpPr/>
          <p:nvPr/>
        </p:nvSpPr>
        <p:spPr>
          <a:xfrm>
            <a:off x="548640" y="2331720"/>
            <a:ext cx="2084832" cy="457200"/>
          </a:xfrm>
          <a:prstGeom prst="rect">
            <a:avLst/>
          </a:prstGeom>
          <a:noFill/>
          <a:ln/>
        </p:spPr>
        <p:txBody>
          <a:bodyPr wrap="square" rtlCol="0" anchor="ctr"/>
          <a:lstStyle/>
          <a:p>
            <a:pPr marL="0" indent="0" algn="ctr">
              <a:buNone/>
            </a:pPr>
            <a:r>
              <a:rPr lang="en-US" sz="1150" dirty="0">
                <a:solidFill>
                  <a:srgbClr val="CFE8E6"/>
                </a:solidFill>
                <a:latin typeface="Calibri" pitchFamily="34" charset="0"/>
                <a:ea typeface="Calibri" pitchFamily="34" charset="-122"/>
                <a:cs typeface="Calibri" pitchFamily="34" charset="-120"/>
              </a:rPr>
              <a:t>Total Rentals</a:t>
            </a:r>
            <a:endParaRPr lang="en-US" sz="1150" dirty="0"/>
          </a:p>
        </p:txBody>
      </p:sp>
      <p:sp>
        <p:nvSpPr>
          <p:cNvPr id="6" name="Shape 4"/>
          <p:cNvSpPr/>
          <p:nvPr/>
        </p:nvSpPr>
        <p:spPr>
          <a:xfrm>
            <a:off x="2816352" y="1371600"/>
            <a:ext cx="2084832" cy="1554480"/>
          </a:xfrm>
          <a:prstGeom prst="roundRect">
            <a:avLst>
              <a:gd name="adj" fmla="val 5294"/>
            </a:avLst>
          </a:prstGeom>
          <a:solidFill>
            <a:srgbClr val="F7F9FA"/>
          </a:solidFill>
          <a:ln/>
        </p:spPr>
      </p:sp>
      <p:sp>
        <p:nvSpPr>
          <p:cNvPr id="7" name="Text 5"/>
          <p:cNvSpPr/>
          <p:nvPr/>
        </p:nvSpPr>
        <p:spPr>
          <a:xfrm>
            <a:off x="2816352" y="1627632"/>
            <a:ext cx="2084832" cy="685800"/>
          </a:xfrm>
          <a:prstGeom prst="rect">
            <a:avLst/>
          </a:prstGeom>
          <a:noFill/>
          <a:ln/>
        </p:spPr>
        <p:txBody>
          <a:bodyPr wrap="square" rtlCol="0" anchor="ctr"/>
          <a:lstStyle/>
          <a:p>
            <a:pPr marL="0" indent="0" algn="ctr">
              <a:buNone/>
            </a:pPr>
            <a:r>
              <a:rPr lang="en-US" sz="3000" b="1" dirty="0">
                <a:solidFill>
                  <a:srgbClr val="022C43"/>
                </a:solidFill>
                <a:latin typeface="Cambria" pitchFamily="34" charset="0"/>
                <a:ea typeface="Cambria" pitchFamily="34" charset="-122"/>
                <a:cs typeface="Cambria" pitchFamily="34" charset="-120"/>
              </a:rPr>
              <a:t>58.3</a:t>
            </a:r>
            <a:endParaRPr lang="en-US" sz="3000" dirty="0"/>
          </a:p>
        </p:txBody>
      </p:sp>
      <p:sp>
        <p:nvSpPr>
          <p:cNvPr id="8" name="Text 6"/>
          <p:cNvSpPr/>
          <p:nvPr/>
        </p:nvSpPr>
        <p:spPr>
          <a:xfrm>
            <a:off x="2816352" y="2331720"/>
            <a:ext cx="2084832" cy="457200"/>
          </a:xfrm>
          <a:prstGeom prst="rect">
            <a:avLst/>
          </a:prstGeom>
          <a:noFill/>
          <a:ln/>
        </p:spPr>
        <p:txBody>
          <a:bodyPr wrap="square" rtlCol="0" anchor="ctr"/>
          <a:lstStyle/>
          <a:p>
            <a:pPr marL="0" indent="0" algn="ctr">
              <a:buNone/>
            </a:pPr>
            <a:r>
              <a:rPr lang="en-US" sz="1150" dirty="0">
                <a:solidFill>
                  <a:srgbClr val="6B7B80"/>
                </a:solidFill>
                <a:latin typeface="Calibri" pitchFamily="34" charset="0"/>
                <a:ea typeface="Calibri" pitchFamily="34" charset="-122"/>
                <a:cs typeface="Calibri" pitchFamily="34" charset="-120"/>
              </a:rPr>
              <a:t>Avg Rentals / Hour</a:t>
            </a:r>
            <a:endParaRPr lang="en-US" sz="1150" dirty="0"/>
          </a:p>
        </p:txBody>
      </p:sp>
      <p:sp>
        <p:nvSpPr>
          <p:cNvPr id="9" name="Shape 7"/>
          <p:cNvSpPr/>
          <p:nvPr/>
        </p:nvSpPr>
        <p:spPr>
          <a:xfrm>
            <a:off x="5084064" y="1371600"/>
            <a:ext cx="2084832" cy="1554480"/>
          </a:xfrm>
          <a:prstGeom prst="roundRect">
            <a:avLst>
              <a:gd name="adj" fmla="val 5294"/>
            </a:avLst>
          </a:prstGeom>
          <a:solidFill>
            <a:srgbClr val="F7F9FA"/>
          </a:solidFill>
          <a:ln/>
        </p:spPr>
      </p:sp>
      <p:sp>
        <p:nvSpPr>
          <p:cNvPr id="10" name="Text 8"/>
          <p:cNvSpPr/>
          <p:nvPr/>
        </p:nvSpPr>
        <p:spPr>
          <a:xfrm>
            <a:off x="5084064" y="1627632"/>
            <a:ext cx="2084832" cy="685800"/>
          </a:xfrm>
          <a:prstGeom prst="rect">
            <a:avLst/>
          </a:prstGeom>
          <a:noFill/>
          <a:ln/>
        </p:spPr>
        <p:txBody>
          <a:bodyPr wrap="square" rtlCol="0" anchor="ctr"/>
          <a:lstStyle/>
          <a:p>
            <a:pPr marL="0" indent="0" algn="ctr">
              <a:buNone/>
            </a:pPr>
            <a:r>
              <a:rPr lang="en-US" sz="3000" b="1" dirty="0">
                <a:solidFill>
                  <a:srgbClr val="022C43"/>
                </a:solidFill>
                <a:latin typeface="Cambria" pitchFamily="34" charset="0"/>
                <a:ea typeface="Cambria" pitchFamily="34" charset="-122"/>
                <a:cs typeface="Cambria" pitchFamily="34" charset="-120"/>
              </a:rPr>
              <a:t>249</a:t>
            </a:r>
            <a:endParaRPr lang="en-US" sz="3000" dirty="0"/>
          </a:p>
        </p:txBody>
      </p:sp>
      <p:sp>
        <p:nvSpPr>
          <p:cNvPr id="11" name="Text 9"/>
          <p:cNvSpPr/>
          <p:nvPr/>
        </p:nvSpPr>
        <p:spPr>
          <a:xfrm>
            <a:off x="5084064" y="2331720"/>
            <a:ext cx="2084832" cy="457200"/>
          </a:xfrm>
          <a:prstGeom prst="rect">
            <a:avLst/>
          </a:prstGeom>
          <a:noFill/>
          <a:ln/>
        </p:spPr>
        <p:txBody>
          <a:bodyPr wrap="square" rtlCol="0" anchor="ctr"/>
          <a:lstStyle/>
          <a:p>
            <a:pPr marL="0" indent="0" algn="ctr">
              <a:buNone/>
            </a:pPr>
            <a:r>
              <a:rPr lang="en-US" sz="1150" dirty="0">
                <a:solidFill>
                  <a:srgbClr val="6B7B80"/>
                </a:solidFill>
                <a:latin typeface="Calibri" pitchFamily="34" charset="0"/>
                <a:ea typeface="Calibri" pitchFamily="34" charset="-122"/>
                <a:cs typeface="Calibri" pitchFamily="34" charset="-120"/>
              </a:rPr>
              <a:t>Peak Hour Rentals</a:t>
            </a:r>
            <a:endParaRPr lang="en-US" sz="1150" dirty="0"/>
          </a:p>
        </p:txBody>
      </p:sp>
      <p:sp>
        <p:nvSpPr>
          <p:cNvPr id="12" name="Shape 10"/>
          <p:cNvSpPr/>
          <p:nvPr/>
        </p:nvSpPr>
        <p:spPr>
          <a:xfrm>
            <a:off x="7351776" y="1371600"/>
            <a:ext cx="2084832" cy="1554480"/>
          </a:xfrm>
          <a:prstGeom prst="roundRect">
            <a:avLst>
              <a:gd name="adj" fmla="val 5294"/>
            </a:avLst>
          </a:prstGeom>
          <a:solidFill>
            <a:srgbClr val="F7F9FA"/>
          </a:solidFill>
          <a:ln/>
        </p:spPr>
      </p:sp>
      <p:sp>
        <p:nvSpPr>
          <p:cNvPr id="13" name="Text 11"/>
          <p:cNvSpPr/>
          <p:nvPr/>
        </p:nvSpPr>
        <p:spPr>
          <a:xfrm>
            <a:off x="7351776" y="1627632"/>
            <a:ext cx="2084832" cy="685800"/>
          </a:xfrm>
          <a:prstGeom prst="rect">
            <a:avLst/>
          </a:prstGeom>
          <a:noFill/>
          <a:ln/>
        </p:spPr>
        <p:txBody>
          <a:bodyPr wrap="square" rtlCol="0" anchor="ctr"/>
          <a:lstStyle/>
          <a:p>
            <a:pPr marL="0" indent="0" algn="ctr">
              <a:buNone/>
            </a:pPr>
            <a:r>
              <a:rPr lang="en-US" sz="3000" b="1" dirty="0">
                <a:solidFill>
                  <a:srgbClr val="022C43"/>
                </a:solidFill>
                <a:latin typeface="Cambria" pitchFamily="34" charset="0"/>
                <a:ea typeface="Cambria" pitchFamily="34" charset="-122"/>
                <a:cs typeface="Cambria" pitchFamily="34" charset="-120"/>
              </a:rPr>
              <a:t>1,000</a:t>
            </a:r>
            <a:endParaRPr lang="en-US" sz="3000" dirty="0"/>
          </a:p>
        </p:txBody>
      </p:sp>
      <p:sp>
        <p:nvSpPr>
          <p:cNvPr id="14" name="Text 12"/>
          <p:cNvSpPr/>
          <p:nvPr/>
        </p:nvSpPr>
        <p:spPr>
          <a:xfrm>
            <a:off x="7351776" y="2331720"/>
            <a:ext cx="2084832" cy="457200"/>
          </a:xfrm>
          <a:prstGeom prst="rect">
            <a:avLst/>
          </a:prstGeom>
          <a:noFill/>
          <a:ln/>
        </p:spPr>
        <p:txBody>
          <a:bodyPr wrap="square" rtlCol="0" anchor="ctr"/>
          <a:lstStyle/>
          <a:p>
            <a:pPr marL="0" indent="0" algn="ctr">
              <a:buNone/>
            </a:pPr>
            <a:r>
              <a:rPr lang="en-US" sz="1150" dirty="0">
                <a:solidFill>
                  <a:srgbClr val="6B7B80"/>
                </a:solidFill>
                <a:latin typeface="Calibri" pitchFamily="34" charset="0"/>
                <a:ea typeface="Calibri" pitchFamily="34" charset="-122"/>
                <a:cs typeface="Calibri" pitchFamily="34" charset="-120"/>
              </a:rPr>
              <a:t>Hourly Records</a:t>
            </a:r>
            <a:endParaRPr lang="en-US" sz="1150" dirty="0"/>
          </a:p>
        </p:txBody>
      </p:sp>
      <p:sp>
        <p:nvSpPr>
          <p:cNvPr id="15" name="Shape 13"/>
          <p:cNvSpPr/>
          <p:nvPr/>
        </p:nvSpPr>
        <p:spPr>
          <a:xfrm>
            <a:off x="9619488" y="1371600"/>
            <a:ext cx="2084832" cy="1554480"/>
          </a:xfrm>
          <a:prstGeom prst="roundRect">
            <a:avLst>
              <a:gd name="adj" fmla="val 5294"/>
            </a:avLst>
          </a:prstGeom>
          <a:solidFill>
            <a:srgbClr val="F7F9FA"/>
          </a:solidFill>
          <a:ln/>
        </p:spPr>
      </p:sp>
      <p:sp>
        <p:nvSpPr>
          <p:cNvPr id="16" name="Text 14"/>
          <p:cNvSpPr/>
          <p:nvPr/>
        </p:nvSpPr>
        <p:spPr>
          <a:xfrm>
            <a:off x="9619488" y="1627632"/>
            <a:ext cx="2084832" cy="685800"/>
          </a:xfrm>
          <a:prstGeom prst="rect">
            <a:avLst/>
          </a:prstGeom>
          <a:noFill/>
          <a:ln/>
        </p:spPr>
        <p:txBody>
          <a:bodyPr wrap="square" rtlCol="0" anchor="ctr"/>
          <a:lstStyle/>
          <a:p>
            <a:pPr marL="0" indent="0" algn="ctr">
              <a:buNone/>
            </a:pPr>
            <a:r>
              <a:rPr lang="en-US" sz="3000" b="1" dirty="0">
                <a:solidFill>
                  <a:srgbClr val="022C43"/>
                </a:solidFill>
                <a:latin typeface="Cambria" pitchFamily="34" charset="0"/>
                <a:ea typeface="Cambria" pitchFamily="34" charset="-122"/>
                <a:cs typeface="Cambria" pitchFamily="34" charset="-120"/>
              </a:rPr>
              <a:t>91.6%</a:t>
            </a:r>
            <a:endParaRPr lang="en-US" sz="3000" dirty="0"/>
          </a:p>
        </p:txBody>
      </p:sp>
      <p:sp>
        <p:nvSpPr>
          <p:cNvPr id="17" name="Text 15"/>
          <p:cNvSpPr/>
          <p:nvPr/>
        </p:nvSpPr>
        <p:spPr>
          <a:xfrm>
            <a:off x="9619488" y="2331720"/>
            <a:ext cx="2084832" cy="457200"/>
          </a:xfrm>
          <a:prstGeom prst="rect">
            <a:avLst/>
          </a:prstGeom>
          <a:noFill/>
          <a:ln/>
        </p:spPr>
        <p:txBody>
          <a:bodyPr wrap="square" rtlCol="0" anchor="ctr"/>
          <a:lstStyle/>
          <a:p>
            <a:pPr marL="0" indent="0" algn="ctr">
              <a:buNone/>
            </a:pPr>
            <a:r>
              <a:rPr lang="en-US" sz="1150" dirty="0">
                <a:solidFill>
                  <a:srgbClr val="6B7B80"/>
                </a:solidFill>
                <a:latin typeface="Calibri" pitchFamily="34" charset="0"/>
                <a:ea typeface="Calibri" pitchFamily="34" charset="-122"/>
                <a:cs typeface="Calibri" pitchFamily="34" charset="-120"/>
              </a:rPr>
              <a:t>Registered Riders</a:t>
            </a:r>
            <a:endParaRPr lang="en-US" sz="1150" dirty="0"/>
          </a:p>
        </p:txBody>
      </p:sp>
      <p:sp>
        <p:nvSpPr>
          <p:cNvPr id="18" name="Text 16"/>
          <p:cNvSpPr/>
          <p:nvPr/>
        </p:nvSpPr>
        <p:spPr>
          <a:xfrm>
            <a:off x="548640" y="3246120"/>
            <a:ext cx="4937760" cy="36576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Rentals by Month</a:t>
            </a:r>
            <a:endParaRPr lang="en-US" sz="1500" dirty="0"/>
          </a:p>
        </p:txBody>
      </p:sp>
      <p:graphicFrame>
        <p:nvGraphicFramePr>
          <p:cNvPr id="19" name="Chart 0"/>
          <p:cNvGraphicFramePr/>
          <p:nvPr/>
        </p:nvGraphicFramePr>
        <p:xfrm>
          <a:off x="548640" y="3657600"/>
          <a:ext cx="493776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7"/>
          <p:cNvSpPr/>
          <p:nvPr/>
        </p:nvSpPr>
        <p:spPr>
          <a:xfrm>
            <a:off x="5760720" y="3246120"/>
            <a:ext cx="4937760" cy="36576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Rider Type Split</a:t>
            </a:r>
            <a:endParaRPr lang="en-US" sz="1500" dirty="0"/>
          </a:p>
        </p:txBody>
      </p:sp>
      <p:graphicFrame>
        <p:nvGraphicFramePr>
          <p:cNvPr id="21" name="Chart 1"/>
          <p:cNvGraphicFramePr/>
          <p:nvPr/>
        </p:nvGraphicFramePr>
        <p:xfrm>
          <a:off x="5760720" y="3657600"/>
          <a:ext cx="4937760" cy="27889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888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Demand by Hour of Day</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50" i="1" dirty="0">
                <a:solidFill>
                  <a:srgbClr val="6B7B80"/>
                </a:solidFill>
                <a:latin typeface="Calibri" pitchFamily="34" charset="0"/>
                <a:ea typeface="Calibri" pitchFamily="34" charset="-122"/>
                <a:cs typeface="Calibri" pitchFamily="34" charset="-120"/>
              </a:rPr>
              <a:t>Two sharp commute peaks dominate the day</a:t>
            </a:r>
            <a:endParaRPr lang="en-US" sz="1350" dirty="0"/>
          </a:p>
        </p:txBody>
      </p:sp>
      <p:graphicFrame>
        <p:nvGraphicFramePr>
          <p:cNvPr id="4" name="Chart 0"/>
          <p:cNvGraphicFramePr/>
          <p:nvPr/>
        </p:nvGraphicFramePr>
        <p:xfrm>
          <a:off x="548640" y="1417320"/>
          <a:ext cx="78638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41080" y="1554480"/>
            <a:ext cx="2971800" cy="2377440"/>
          </a:xfrm>
          <a:prstGeom prst="roundRect">
            <a:avLst>
              <a:gd name="adj" fmla="val 3077"/>
            </a:avLst>
          </a:prstGeom>
          <a:solidFill>
            <a:srgbClr val="F7F9FA"/>
          </a:solidFill>
          <a:ln/>
        </p:spPr>
      </p:sp>
      <p:sp>
        <p:nvSpPr>
          <p:cNvPr id="6" name="Text 3"/>
          <p:cNvSpPr/>
          <p:nvPr/>
        </p:nvSpPr>
        <p:spPr>
          <a:xfrm>
            <a:off x="8823960" y="1691640"/>
            <a:ext cx="2606040" cy="45720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08:00</a:t>
            </a:r>
            <a:endParaRPr lang="en-US" sz="2200" dirty="0"/>
          </a:p>
        </p:txBody>
      </p:sp>
      <p:sp>
        <p:nvSpPr>
          <p:cNvPr id="7" name="Text 4"/>
          <p:cNvSpPr/>
          <p:nvPr/>
        </p:nvSpPr>
        <p:spPr>
          <a:xfrm>
            <a:off x="8823960" y="2148840"/>
            <a:ext cx="2606040" cy="548640"/>
          </a:xfrm>
          <a:prstGeom prst="rect">
            <a:avLst/>
          </a:prstGeom>
          <a:noFill/>
          <a:ln/>
        </p:spPr>
        <p:txBody>
          <a:bodyPr wrap="square" rtlCol="0" anchor="ctr"/>
          <a:lstStyle/>
          <a:p>
            <a:pPr marL="0" indent="0">
              <a:buNone/>
            </a:pPr>
            <a:r>
              <a:rPr lang="en-US" sz="1150" dirty="0">
                <a:solidFill>
                  <a:srgbClr val="2B2B2B"/>
                </a:solidFill>
                <a:latin typeface="Calibri" pitchFamily="34" charset="0"/>
                <a:ea typeface="Calibri" pitchFamily="34" charset="-122"/>
                <a:cs typeface="Calibri" pitchFamily="34" charset="-120"/>
              </a:rPr>
              <a:t>Morning peak – 128 rentals/hr avg</a:t>
            </a:r>
            <a:endParaRPr lang="en-US" sz="1150" dirty="0"/>
          </a:p>
        </p:txBody>
      </p:sp>
      <p:sp>
        <p:nvSpPr>
          <p:cNvPr id="8" name="Text 5"/>
          <p:cNvSpPr/>
          <p:nvPr/>
        </p:nvSpPr>
        <p:spPr>
          <a:xfrm>
            <a:off x="8823960" y="2743200"/>
            <a:ext cx="2606040" cy="45720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17:00</a:t>
            </a:r>
            <a:endParaRPr lang="en-US" sz="2200" dirty="0"/>
          </a:p>
        </p:txBody>
      </p:sp>
      <p:sp>
        <p:nvSpPr>
          <p:cNvPr id="9" name="Text 6"/>
          <p:cNvSpPr/>
          <p:nvPr/>
        </p:nvSpPr>
        <p:spPr>
          <a:xfrm>
            <a:off x="8823960" y="3200400"/>
            <a:ext cx="2606040" cy="594360"/>
          </a:xfrm>
          <a:prstGeom prst="rect">
            <a:avLst/>
          </a:prstGeom>
          <a:noFill/>
          <a:ln/>
        </p:spPr>
        <p:txBody>
          <a:bodyPr wrap="square" rtlCol="0" anchor="ctr"/>
          <a:lstStyle/>
          <a:p>
            <a:pPr marL="0" indent="0">
              <a:buNone/>
            </a:pPr>
            <a:r>
              <a:rPr lang="en-US" sz="1150" dirty="0">
                <a:solidFill>
                  <a:srgbClr val="2B2B2B"/>
                </a:solidFill>
                <a:latin typeface="Calibri" pitchFamily="34" charset="0"/>
                <a:ea typeface="Calibri" pitchFamily="34" charset="-122"/>
                <a:cs typeface="Calibri" pitchFamily="34" charset="-120"/>
              </a:rPr>
              <a:t>Evening peak – 140 rentals/hr avg (daily high)</a:t>
            </a:r>
            <a:endParaRPr lang="en-US" sz="1150" dirty="0"/>
          </a:p>
        </p:txBody>
      </p:sp>
      <p:sp>
        <p:nvSpPr>
          <p:cNvPr id="10" name="Shape 7"/>
          <p:cNvSpPr/>
          <p:nvPr/>
        </p:nvSpPr>
        <p:spPr>
          <a:xfrm>
            <a:off x="8641080" y="4160520"/>
            <a:ext cx="2971800" cy="2103120"/>
          </a:xfrm>
          <a:prstGeom prst="roundRect">
            <a:avLst>
              <a:gd name="adj" fmla="val 3478"/>
            </a:avLst>
          </a:prstGeom>
          <a:solidFill>
            <a:srgbClr val="028090"/>
          </a:solidFill>
          <a:ln/>
        </p:spPr>
      </p:sp>
      <p:sp>
        <p:nvSpPr>
          <p:cNvPr id="11" name="Text 8"/>
          <p:cNvSpPr/>
          <p:nvPr/>
        </p:nvSpPr>
        <p:spPr>
          <a:xfrm>
            <a:off x="8823960" y="4297680"/>
            <a:ext cx="2606040" cy="320040"/>
          </a:xfrm>
          <a:prstGeom prst="rect">
            <a:avLst/>
          </a:prstGeom>
          <a:noFill/>
          <a:ln/>
        </p:spPr>
        <p:txBody>
          <a:bodyPr wrap="square" rtlCol="0" anchor="ctr"/>
          <a:lstStyle/>
          <a:p>
            <a:pPr marL="0" indent="0">
              <a:buNone/>
            </a:pPr>
            <a:r>
              <a:rPr lang="en-US" sz="1250" b="1" dirty="0">
                <a:solidFill>
                  <a:srgbClr val="F4A300"/>
                </a:solidFill>
                <a:latin typeface="Cambria" pitchFamily="34" charset="0"/>
                <a:ea typeface="Cambria" pitchFamily="34" charset="-122"/>
                <a:cs typeface="Cambria" pitchFamily="34" charset="-120"/>
              </a:rPr>
              <a:t>Takeaway</a:t>
            </a:r>
            <a:endParaRPr lang="en-US" sz="1250" dirty="0"/>
          </a:p>
        </p:txBody>
      </p:sp>
      <p:sp>
        <p:nvSpPr>
          <p:cNvPr id="12" name="Text 9"/>
          <p:cNvSpPr/>
          <p:nvPr/>
        </p:nvSpPr>
        <p:spPr>
          <a:xfrm>
            <a:off x="8823960" y="4617720"/>
            <a:ext cx="2606040" cy="150876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The two peaks line up with a typical commute schedule, pointing to work/school travel as the main demand driver.</a:t>
            </a:r>
            <a:endParaRPr lang="en-US" sz="1150" dirty="0"/>
          </a:p>
        </p:txBody>
      </p:sp>
    </p:spTree>
    <p:extLst>
      <p:ext uri="{BB962C8B-B14F-4D97-AF65-F5344CB8AC3E}">
        <p14:creationId xmlns:p14="http://schemas.microsoft.com/office/powerpoint/2010/main" val="1856906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Demand by Day of Week</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50" i="1" dirty="0">
                <a:solidFill>
                  <a:srgbClr val="6B7B80"/>
                </a:solidFill>
                <a:latin typeface="Calibri" pitchFamily="34" charset="0"/>
                <a:ea typeface="Calibri" pitchFamily="34" charset="-122"/>
                <a:cs typeface="Calibri" pitchFamily="34" charset="-120"/>
              </a:rPr>
              <a:t>Weekdays run busier and more variable than weekends</a:t>
            </a:r>
            <a:endParaRPr lang="en-US" sz="1350" dirty="0"/>
          </a:p>
        </p:txBody>
      </p:sp>
      <p:sp>
        <p:nvSpPr>
          <p:cNvPr id="4" name="Text 2"/>
          <p:cNvSpPr/>
          <p:nvPr/>
        </p:nvSpPr>
        <p:spPr>
          <a:xfrm>
            <a:off x="548640" y="1417320"/>
            <a:ext cx="4114800" cy="320040"/>
          </a:xfrm>
          <a:prstGeom prst="rect">
            <a:avLst/>
          </a:prstGeom>
          <a:noFill/>
          <a:ln/>
        </p:spPr>
        <p:txBody>
          <a:bodyPr wrap="square" rtlCol="0" anchor="ctr"/>
          <a:lstStyle/>
          <a:p>
            <a:pPr marL="0" indent="0">
              <a:buNone/>
            </a:pPr>
            <a:r>
              <a:rPr lang="en-US" sz="1400" b="1" dirty="0">
                <a:solidFill>
                  <a:srgbClr val="028090"/>
                </a:solidFill>
                <a:latin typeface="Cambria" pitchFamily="34" charset="0"/>
                <a:ea typeface="Cambria" pitchFamily="34" charset="-122"/>
                <a:cs typeface="Cambria" pitchFamily="34" charset="-120"/>
              </a:rPr>
              <a:t>Avg Rentals / Hour</a:t>
            </a:r>
            <a:endParaRPr lang="en-US" sz="1400" dirty="0"/>
          </a:p>
        </p:txBody>
      </p:sp>
      <p:graphicFrame>
        <p:nvGraphicFramePr>
          <p:cNvPr id="5" name="Chart 0"/>
          <p:cNvGraphicFramePr/>
          <p:nvPr/>
        </p:nvGraphicFramePr>
        <p:xfrm>
          <a:off x="548640" y="1783080"/>
          <a:ext cx="512064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48640" y="4434840"/>
            <a:ext cx="5120640" cy="320040"/>
          </a:xfrm>
          <a:prstGeom prst="rect">
            <a:avLst/>
          </a:prstGeom>
          <a:noFill/>
          <a:ln/>
        </p:spPr>
        <p:txBody>
          <a:bodyPr wrap="square" rtlCol="0" anchor="ctr"/>
          <a:lstStyle/>
          <a:p>
            <a:pPr marL="0" indent="0">
              <a:buNone/>
            </a:pPr>
            <a:r>
              <a:rPr lang="en-US" sz="1300" b="1" dirty="0">
                <a:solidFill>
                  <a:srgbClr val="028090"/>
                </a:solidFill>
                <a:latin typeface="Cambria" pitchFamily="34" charset="0"/>
                <a:ea typeface="Cambria" pitchFamily="34" charset="-122"/>
                <a:cs typeface="Cambria" pitchFamily="34" charset="-120"/>
              </a:rPr>
              <a:t>Demand Volatility (Std. Deviation)</a:t>
            </a:r>
            <a:endParaRPr lang="en-US" sz="1300" dirty="0"/>
          </a:p>
        </p:txBody>
      </p:sp>
      <p:sp>
        <p:nvSpPr>
          <p:cNvPr id="7" name="Text 4"/>
          <p:cNvSpPr/>
          <p:nvPr/>
        </p:nvSpPr>
        <p:spPr>
          <a:xfrm>
            <a:off x="548640" y="4800600"/>
            <a:ext cx="5120640" cy="1463040"/>
          </a:xfrm>
          <a:prstGeom prst="rect">
            <a:avLst/>
          </a:prstGeom>
          <a:noFill/>
          <a:ln/>
        </p:spPr>
        <p:txBody>
          <a:bodyPr wrap="square" rtlCol="0" anchor="ctr"/>
          <a:lstStyle/>
          <a:p>
            <a:pPr marL="0" indent="0">
              <a:lnSpc>
                <a:spcPct val="120000"/>
              </a:lnSpc>
              <a:buNone/>
            </a:pPr>
            <a:r>
              <a:rPr lang="en-US" sz="1200" dirty="0">
                <a:solidFill>
                  <a:srgbClr val="2B2B2B"/>
                </a:solidFill>
                <a:latin typeface="Calibri" pitchFamily="34" charset="0"/>
                <a:ea typeface="Calibri" pitchFamily="34" charset="-122"/>
                <a:cs typeface="Calibri" pitchFamily="34" charset="-120"/>
              </a:rPr>
              <a:t>Weekday rentals swing more hour-to-hour (higher spread) than weekend rentals – a signature of sharp commute peaks rather than steady, spread-out leisure use.</a:t>
            </a:r>
            <a:endParaRPr lang="en-US" sz="1200" dirty="0"/>
          </a:p>
        </p:txBody>
      </p:sp>
      <p:sp>
        <p:nvSpPr>
          <p:cNvPr id="8" name="Text 5"/>
          <p:cNvSpPr/>
          <p:nvPr/>
        </p:nvSpPr>
        <p:spPr>
          <a:xfrm>
            <a:off x="5989320" y="1417320"/>
            <a:ext cx="5669280" cy="320040"/>
          </a:xfrm>
          <a:prstGeom prst="rect">
            <a:avLst/>
          </a:prstGeom>
          <a:noFill/>
          <a:ln/>
        </p:spPr>
        <p:txBody>
          <a:bodyPr wrap="square" rtlCol="0" anchor="ctr"/>
          <a:lstStyle/>
          <a:p>
            <a:pPr marL="0" indent="0">
              <a:buNone/>
            </a:pPr>
            <a:r>
              <a:rPr lang="en-US" sz="1400" b="1" dirty="0">
                <a:solidFill>
                  <a:srgbClr val="028090"/>
                </a:solidFill>
                <a:latin typeface="Cambria" pitchFamily="34" charset="0"/>
                <a:ea typeface="Cambria" pitchFamily="34" charset="-122"/>
                <a:cs typeface="Cambria" pitchFamily="34" charset="-120"/>
              </a:rPr>
              <a:t>Avg Rentals by Day of Week</a:t>
            </a:r>
            <a:endParaRPr lang="en-US" sz="1400" dirty="0"/>
          </a:p>
        </p:txBody>
      </p:sp>
      <p:graphicFrame>
        <p:nvGraphicFramePr>
          <p:cNvPr id="9" name="Chart 1"/>
          <p:cNvGraphicFramePr/>
          <p:nvPr/>
        </p:nvGraphicFramePr>
        <p:xfrm>
          <a:off x="5989320" y="1783080"/>
          <a:ext cx="5669280" cy="4480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97484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Weather Impact on Demand</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50" i="1" dirty="0">
                <a:solidFill>
                  <a:srgbClr val="6B7B80"/>
                </a:solidFill>
                <a:latin typeface="Calibri" pitchFamily="34" charset="0"/>
                <a:ea typeface="Calibri" pitchFamily="34" charset="-122"/>
                <a:cs typeface="Calibri" pitchFamily="34" charset="-120"/>
              </a:rPr>
              <a:t>Clear conditions drive nearly double the rentals of poor weather</a:t>
            </a:r>
            <a:endParaRPr lang="en-US" sz="1350" dirty="0"/>
          </a:p>
        </p:txBody>
      </p:sp>
      <p:graphicFrame>
        <p:nvGraphicFramePr>
          <p:cNvPr id="4" name="Chart 0"/>
          <p:cNvGraphicFramePr/>
          <p:nvPr/>
        </p:nvGraphicFramePr>
        <p:xfrm>
          <a:off x="548640" y="141732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554480"/>
            <a:ext cx="640080" cy="640080"/>
          </a:xfrm>
          <a:prstGeom prst="ellipse">
            <a:avLst/>
          </a:prstGeom>
          <a:solidFill>
            <a:srgbClr val="05668D"/>
          </a:solidFill>
          <a:ln/>
        </p:spPr>
      </p:sp>
      <p:pic>
        <p:nvPicPr>
          <p:cNvPr id="6" name="Image 0" descr="icons/icon_cloudrain.png"/>
          <p:cNvPicPr>
            <a:picLocks noChangeAspect="1"/>
          </p:cNvPicPr>
          <p:nvPr/>
        </p:nvPicPr>
        <p:blipFill>
          <a:blip r:embed="rId4"/>
          <a:stretch>
            <a:fillRect/>
          </a:stretch>
        </p:blipFill>
        <p:spPr>
          <a:xfrm>
            <a:off x="8167421" y="1720901"/>
            <a:ext cx="307238" cy="307238"/>
          </a:xfrm>
          <a:prstGeom prst="rect">
            <a:avLst/>
          </a:prstGeom>
        </p:spPr>
      </p:pic>
      <p:sp>
        <p:nvSpPr>
          <p:cNvPr id="7" name="Text 3"/>
          <p:cNvSpPr/>
          <p:nvPr/>
        </p:nvSpPr>
        <p:spPr>
          <a:xfrm>
            <a:off x="8001000" y="2331720"/>
            <a:ext cx="3657600" cy="36576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Weather sample sizes vary</a:t>
            </a:r>
            <a:endParaRPr lang="en-US" sz="1300" dirty="0"/>
          </a:p>
        </p:txBody>
      </p:sp>
      <p:sp>
        <p:nvSpPr>
          <p:cNvPr id="8" name="Text 4"/>
          <p:cNvSpPr/>
          <p:nvPr/>
        </p:nvSpPr>
        <p:spPr>
          <a:xfrm>
            <a:off x="8001000" y="2697480"/>
            <a:ext cx="3657600" cy="1005840"/>
          </a:xfrm>
          <a:prstGeom prst="rect">
            <a:avLst/>
          </a:prstGeom>
          <a:noFill/>
          <a:ln/>
        </p:spPr>
        <p:txBody>
          <a:bodyPr wrap="square" rtlCol="0" anchor="ctr"/>
          <a:lstStyle/>
          <a:p>
            <a:pPr marL="0" indent="0">
              <a:lnSpc>
                <a:spcPct val="120000"/>
              </a:lnSpc>
              <a:buNone/>
            </a:pPr>
            <a:r>
              <a:rPr lang="en-US" sz="1150" dirty="0">
                <a:solidFill>
                  <a:srgbClr val="6B7B80"/>
                </a:solidFill>
                <a:latin typeface="Calibri" pitchFamily="34" charset="0"/>
                <a:ea typeface="Calibri" pitchFamily="34" charset="-122"/>
                <a:cs typeface="Calibri" pitchFamily="34" charset="-120"/>
              </a:rPr>
              <a:t>606 clear hours vs. just 1 heavy-rain hour in this window – read the heavy-rain figure as directional, not statistically robust.</a:t>
            </a:r>
            <a:endParaRPr lang="en-US" sz="1150" dirty="0"/>
          </a:p>
        </p:txBody>
      </p:sp>
      <p:sp>
        <p:nvSpPr>
          <p:cNvPr id="9" name="Shape 5"/>
          <p:cNvSpPr/>
          <p:nvPr/>
        </p:nvSpPr>
        <p:spPr>
          <a:xfrm>
            <a:off x="8001000" y="3931920"/>
            <a:ext cx="3657600" cy="2331720"/>
          </a:xfrm>
          <a:prstGeom prst="roundRect">
            <a:avLst>
              <a:gd name="adj" fmla="val 3137"/>
            </a:avLst>
          </a:prstGeom>
          <a:solidFill>
            <a:srgbClr val="028090"/>
          </a:solidFill>
          <a:ln/>
        </p:spPr>
      </p:sp>
      <p:sp>
        <p:nvSpPr>
          <p:cNvPr id="10" name="Text 6"/>
          <p:cNvSpPr/>
          <p:nvPr/>
        </p:nvSpPr>
        <p:spPr>
          <a:xfrm>
            <a:off x="8183880" y="4069080"/>
            <a:ext cx="3291840" cy="320040"/>
          </a:xfrm>
          <a:prstGeom prst="rect">
            <a:avLst/>
          </a:prstGeom>
          <a:noFill/>
          <a:ln/>
        </p:spPr>
        <p:txBody>
          <a:bodyPr wrap="square" rtlCol="0" anchor="ctr"/>
          <a:lstStyle/>
          <a:p>
            <a:pPr marL="0" indent="0">
              <a:buNone/>
            </a:pPr>
            <a:r>
              <a:rPr lang="en-US" sz="1250" b="1" dirty="0">
                <a:solidFill>
                  <a:srgbClr val="F4A300"/>
                </a:solidFill>
                <a:latin typeface="Cambria" pitchFamily="34" charset="0"/>
                <a:ea typeface="Cambria" pitchFamily="34" charset="-122"/>
                <a:cs typeface="Cambria" pitchFamily="34" charset="-120"/>
              </a:rPr>
              <a:t>Takeaway</a:t>
            </a:r>
            <a:endParaRPr lang="en-US" sz="1250" dirty="0"/>
          </a:p>
        </p:txBody>
      </p:sp>
      <p:sp>
        <p:nvSpPr>
          <p:cNvPr id="11" name="Text 7"/>
          <p:cNvSpPr/>
          <p:nvPr/>
        </p:nvSpPr>
        <p:spPr>
          <a:xfrm>
            <a:off x="8183880" y="4389120"/>
            <a:ext cx="3291840" cy="173736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Light snow/rain days see roughly half the average hourly demand of clear days – treat them as low-demand days for redistribution and staffing.</a:t>
            </a:r>
            <a:endParaRPr lang="en-US" sz="1150" dirty="0"/>
          </a:p>
        </p:txBody>
      </p:sp>
    </p:spTree>
    <p:extLst>
      <p:ext uri="{BB962C8B-B14F-4D97-AF65-F5344CB8AC3E}">
        <p14:creationId xmlns:p14="http://schemas.microsoft.com/office/powerpoint/2010/main" val="1079123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What Drives Demand?</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50" i="1" dirty="0">
                <a:solidFill>
                  <a:srgbClr val="6B7B80"/>
                </a:solidFill>
                <a:latin typeface="Calibri" pitchFamily="34" charset="0"/>
                <a:ea typeface="Calibri" pitchFamily="34" charset="-122"/>
                <a:cs typeface="Calibri" pitchFamily="34" charset="-120"/>
              </a:rPr>
              <a:t>Correlation of weather variables with hourly rentals (CORREL)</a:t>
            </a:r>
            <a:endParaRPr lang="en-US" sz="1350" dirty="0"/>
          </a:p>
        </p:txBody>
      </p:sp>
      <p:graphicFrame>
        <p:nvGraphicFramePr>
          <p:cNvPr id="4" name="Chart 0"/>
          <p:cNvGraphicFramePr/>
          <p:nvPr/>
        </p:nvGraphicFramePr>
        <p:xfrm>
          <a:off x="548640" y="1463040"/>
          <a:ext cx="61264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463040"/>
            <a:ext cx="502920" cy="502920"/>
          </a:xfrm>
          <a:prstGeom prst="ellipse">
            <a:avLst/>
          </a:prstGeom>
          <a:solidFill>
            <a:srgbClr val="05668D"/>
          </a:solidFill>
          <a:ln/>
        </p:spPr>
      </p:sp>
      <p:pic>
        <p:nvPicPr>
          <p:cNvPr id="6" name="Image 0" descr="icons/icon_thermometer.png"/>
          <p:cNvPicPr>
            <a:picLocks noChangeAspect="1"/>
          </p:cNvPicPr>
          <p:nvPr/>
        </p:nvPicPr>
        <p:blipFill>
          <a:blip r:embed="rId4"/>
          <a:stretch>
            <a:fillRect/>
          </a:stretch>
        </p:blipFill>
        <p:spPr>
          <a:xfrm>
            <a:off x="7217359" y="1593799"/>
            <a:ext cx="241402" cy="241402"/>
          </a:xfrm>
          <a:prstGeom prst="rect">
            <a:avLst/>
          </a:prstGeom>
        </p:spPr>
      </p:pic>
      <p:sp>
        <p:nvSpPr>
          <p:cNvPr id="7" name="Text 3"/>
          <p:cNvSpPr/>
          <p:nvPr/>
        </p:nvSpPr>
        <p:spPr>
          <a:xfrm>
            <a:off x="7772400" y="1435608"/>
            <a:ext cx="3840480" cy="36576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Temperature: +0.23</a:t>
            </a:r>
            <a:endParaRPr lang="en-US" sz="1350" dirty="0"/>
          </a:p>
        </p:txBody>
      </p:sp>
      <p:sp>
        <p:nvSpPr>
          <p:cNvPr id="8" name="Text 4"/>
          <p:cNvSpPr/>
          <p:nvPr/>
        </p:nvSpPr>
        <p:spPr>
          <a:xfrm>
            <a:off x="7772400" y="1810512"/>
            <a:ext cx="3840480" cy="914400"/>
          </a:xfrm>
          <a:prstGeom prst="rect">
            <a:avLst/>
          </a:prstGeom>
          <a:noFill/>
          <a:ln/>
        </p:spPr>
        <p:txBody>
          <a:bodyPr wrap="square" rtlCol="0" anchor="ctr"/>
          <a:lstStyle/>
          <a:p>
            <a:pPr marL="0" indent="0">
              <a:lnSpc>
                <a:spcPct val="115000"/>
              </a:lnSpc>
              <a:buNone/>
            </a:pPr>
            <a:r>
              <a:rPr lang="en-US" sz="1100" dirty="0">
                <a:solidFill>
                  <a:srgbClr val="6B7B80"/>
                </a:solidFill>
                <a:latin typeface="Calibri" pitchFamily="34" charset="0"/>
                <a:ea typeface="Calibri" pitchFamily="34" charset="-122"/>
                <a:cs typeface="Calibri" pitchFamily="34" charset="-120"/>
              </a:rPr>
              <a:t>A mild positive relationship – warmer hours see somewhat more rentals, but temperature alone doesn't drive demand.</a:t>
            </a:r>
            <a:endParaRPr lang="en-US" sz="1100" dirty="0"/>
          </a:p>
        </p:txBody>
      </p:sp>
      <p:sp>
        <p:nvSpPr>
          <p:cNvPr id="9" name="Shape 5"/>
          <p:cNvSpPr/>
          <p:nvPr/>
        </p:nvSpPr>
        <p:spPr>
          <a:xfrm>
            <a:off x="7086600" y="2880360"/>
            <a:ext cx="502920" cy="502920"/>
          </a:xfrm>
          <a:prstGeom prst="ellipse">
            <a:avLst/>
          </a:prstGeom>
          <a:solidFill>
            <a:srgbClr val="05668D"/>
          </a:solidFill>
          <a:ln/>
        </p:spPr>
      </p:sp>
      <p:pic>
        <p:nvPicPr>
          <p:cNvPr id="10" name="Image 1" descr="icons/icon_droplet.png"/>
          <p:cNvPicPr>
            <a:picLocks noChangeAspect="1"/>
          </p:cNvPicPr>
          <p:nvPr/>
        </p:nvPicPr>
        <p:blipFill>
          <a:blip r:embed="rId5"/>
          <a:stretch>
            <a:fillRect/>
          </a:stretch>
        </p:blipFill>
        <p:spPr>
          <a:xfrm>
            <a:off x="7217359" y="3011119"/>
            <a:ext cx="241402" cy="241402"/>
          </a:xfrm>
          <a:prstGeom prst="rect">
            <a:avLst/>
          </a:prstGeom>
        </p:spPr>
      </p:pic>
      <p:sp>
        <p:nvSpPr>
          <p:cNvPr id="11" name="Text 6"/>
          <p:cNvSpPr/>
          <p:nvPr/>
        </p:nvSpPr>
        <p:spPr>
          <a:xfrm>
            <a:off x="7772400" y="2852928"/>
            <a:ext cx="3840480" cy="36576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Humidity: –0.25</a:t>
            </a:r>
            <a:endParaRPr lang="en-US" sz="1350" dirty="0"/>
          </a:p>
        </p:txBody>
      </p:sp>
      <p:sp>
        <p:nvSpPr>
          <p:cNvPr id="12" name="Text 7"/>
          <p:cNvSpPr/>
          <p:nvPr/>
        </p:nvSpPr>
        <p:spPr>
          <a:xfrm>
            <a:off x="7772400" y="3227832"/>
            <a:ext cx="3840480" cy="914400"/>
          </a:xfrm>
          <a:prstGeom prst="rect">
            <a:avLst/>
          </a:prstGeom>
          <a:noFill/>
          <a:ln/>
        </p:spPr>
        <p:txBody>
          <a:bodyPr wrap="square" rtlCol="0" anchor="ctr"/>
          <a:lstStyle/>
          <a:p>
            <a:pPr marL="0" indent="0">
              <a:lnSpc>
                <a:spcPct val="115000"/>
              </a:lnSpc>
              <a:buNone/>
            </a:pPr>
            <a:r>
              <a:rPr lang="en-US" sz="1100" dirty="0">
                <a:solidFill>
                  <a:srgbClr val="6B7B80"/>
                </a:solidFill>
                <a:latin typeface="Calibri" pitchFamily="34" charset="0"/>
                <a:ea typeface="Calibri" pitchFamily="34" charset="-122"/>
                <a:cs typeface="Calibri" pitchFamily="34" charset="-120"/>
              </a:rPr>
              <a:t>The strongest relationship of the three – higher humidity is associated with fewer rentals.</a:t>
            </a:r>
            <a:endParaRPr lang="en-US" sz="1100" dirty="0"/>
          </a:p>
        </p:txBody>
      </p:sp>
      <p:sp>
        <p:nvSpPr>
          <p:cNvPr id="13" name="Shape 8"/>
          <p:cNvSpPr/>
          <p:nvPr/>
        </p:nvSpPr>
        <p:spPr>
          <a:xfrm>
            <a:off x="7086600" y="4297680"/>
            <a:ext cx="502920" cy="502920"/>
          </a:xfrm>
          <a:prstGeom prst="ellipse">
            <a:avLst/>
          </a:prstGeom>
          <a:solidFill>
            <a:srgbClr val="05668D"/>
          </a:solidFill>
          <a:ln/>
        </p:spPr>
      </p:sp>
      <p:pic>
        <p:nvPicPr>
          <p:cNvPr id="14" name="Image 2" descr="icons/icon_wind.png"/>
          <p:cNvPicPr>
            <a:picLocks noChangeAspect="1"/>
          </p:cNvPicPr>
          <p:nvPr/>
        </p:nvPicPr>
        <p:blipFill>
          <a:blip r:embed="rId6"/>
          <a:stretch>
            <a:fillRect/>
          </a:stretch>
        </p:blipFill>
        <p:spPr>
          <a:xfrm>
            <a:off x="7217359" y="4428439"/>
            <a:ext cx="241402" cy="241402"/>
          </a:xfrm>
          <a:prstGeom prst="rect">
            <a:avLst/>
          </a:prstGeom>
        </p:spPr>
      </p:pic>
      <p:sp>
        <p:nvSpPr>
          <p:cNvPr id="15" name="Text 9"/>
          <p:cNvSpPr/>
          <p:nvPr/>
        </p:nvSpPr>
        <p:spPr>
          <a:xfrm>
            <a:off x="7772400" y="4270248"/>
            <a:ext cx="3840480" cy="365760"/>
          </a:xfrm>
          <a:prstGeom prst="rect">
            <a:avLst/>
          </a:prstGeom>
          <a:noFill/>
          <a:ln/>
        </p:spPr>
        <p:txBody>
          <a:bodyPr wrap="square" rtlCol="0" anchor="ctr"/>
          <a:lstStyle/>
          <a:p>
            <a:pPr marL="0" indent="0">
              <a:buNone/>
            </a:pPr>
            <a:r>
              <a:rPr lang="en-US" sz="1350" b="1" dirty="0">
                <a:solidFill>
                  <a:srgbClr val="022C43"/>
                </a:solidFill>
                <a:latin typeface="Cambria" pitchFamily="34" charset="0"/>
                <a:ea typeface="Cambria" pitchFamily="34" charset="-122"/>
                <a:cs typeface="Cambria" pitchFamily="34" charset="-120"/>
              </a:rPr>
              <a:t>Windspeed: +0.10</a:t>
            </a:r>
            <a:endParaRPr lang="en-US" sz="1350" dirty="0"/>
          </a:p>
        </p:txBody>
      </p:sp>
      <p:sp>
        <p:nvSpPr>
          <p:cNvPr id="16" name="Text 10"/>
          <p:cNvSpPr/>
          <p:nvPr/>
        </p:nvSpPr>
        <p:spPr>
          <a:xfrm>
            <a:off x="7772400" y="4645152"/>
            <a:ext cx="3840480" cy="914400"/>
          </a:xfrm>
          <a:prstGeom prst="rect">
            <a:avLst/>
          </a:prstGeom>
          <a:noFill/>
          <a:ln/>
        </p:spPr>
        <p:txBody>
          <a:bodyPr wrap="square" rtlCol="0" anchor="ctr"/>
          <a:lstStyle/>
          <a:p>
            <a:pPr marL="0" indent="0">
              <a:lnSpc>
                <a:spcPct val="115000"/>
              </a:lnSpc>
              <a:buNone/>
            </a:pPr>
            <a:r>
              <a:rPr lang="en-US" sz="1100" dirty="0">
                <a:solidFill>
                  <a:srgbClr val="6B7B80"/>
                </a:solidFill>
                <a:latin typeface="Calibri" pitchFamily="34" charset="0"/>
                <a:ea typeface="Calibri" pitchFamily="34" charset="-122"/>
                <a:cs typeface="Calibri" pitchFamily="34" charset="-120"/>
              </a:rPr>
              <a:t>Very weak – windspeed has minimal measurable impact on rental volume in this data.</a:t>
            </a:r>
            <a:endParaRPr lang="en-US" sz="1100" dirty="0"/>
          </a:p>
        </p:txBody>
      </p:sp>
    </p:spTree>
    <p:extLst>
      <p:ext uri="{BB962C8B-B14F-4D97-AF65-F5344CB8AC3E}">
        <p14:creationId xmlns:p14="http://schemas.microsoft.com/office/powerpoint/2010/main" val="1515230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022C43"/>
                </a:solidFill>
                <a:latin typeface="Cambria" pitchFamily="34" charset="0"/>
                <a:ea typeface="Cambria" pitchFamily="34" charset="-122"/>
                <a:cs typeface="Cambria" pitchFamily="34" charset="-120"/>
              </a:rPr>
              <a:t>Key Findings</a:t>
            </a:r>
            <a:endParaRPr lang="en-US" sz="2800" dirty="0"/>
          </a:p>
        </p:txBody>
      </p:sp>
      <p:sp>
        <p:nvSpPr>
          <p:cNvPr id="3" name="Shape 1"/>
          <p:cNvSpPr/>
          <p:nvPr/>
        </p:nvSpPr>
        <p:spPr>
          <a:xfrm>
            <a:off x="548640" y="1371600"/>
            <a:ext cx="3611880" cy="2194560"/>
          </a:xfrm>
          <a:prstGeom prst="roundRect">
            <a:avLst>
              <a:gd name="adj" fmla="val 3333"/>
            </a:avLst>
          </a:prstGeom>
          <a:solidFill>
            <a:srgbClr val="F7F9FA"/>
          </a:solidFill>
          <a:ln/>
        </p:spPr>
      </p:sp>
      <p:sp>
        <p:nvSpPr>
          <p:cNvPr id="4" name="Shape 2"/>
          <p:cNvSpPr/>
          <p:nvPr/>
        </p:nvSpPr>
        <p:spPr>
          <a:xfrm>
            <a:off x="777240" y="1600200"/>
            <a:ext cx="548640" cy="548640"/>
          </a:xfrm>
          <a:prstGeom prst="ellipse">
            <a:avLst/>
          </a:prstGeom>
          <a:solidFill>
            <a:srgbClr val="028090"/>
          </a:solidFill>
          <a:ln/>
        </p:spPr>
      </p:sp>
      <p:pic>
        <p:nvPicPr>
          <p:cNvPr id="5" name="Image 0" descr="icons/icon_clock.png"/>
          <p:cNvPicPr>
            <a:picLocks noChangeAspect="1"/>
          </p:cNvPicPr>
          <p:nvPr/>
        </p:nvPicPr>
        <p:blipFill>
          <a:blip r:embed="rId3"/>
          <a:stretch>
            <a:fillRect/>
          </a:stretch>
        </p:blipFill>
        <p:spPr>
          <a:xfrm>
            <a:off x="919886" y="1742846"/>
            <a:ext cx="263347" cy="263347"/>
          </a:xfrm>
          <a:prstGeom prst="rect">
            <a:avLst/>
          </a:prstGeom>
        </p:spPr>
      </p:pic>
      <p:sp>
        <p:nvSpPr>
          <p:cNvPr id="6" name="Text 3"/>
          <p:cNvSpPr/>
          <p:nvPr/>
        </p:nvSpPr>
        <p:spPr>
          <a:xfrm>
            <a:off x="777240" y="228600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Commute-driven demand</a:t>
            </a:r>
            <a:endParaRPr lang="en-US" sz="1300" dirty="0"/>
          </a:p>
        </p:txBody>
      </p:sp>
      <p:sp>
        <p:nvSpPr>
          <p:cNvPr id="7" name="Text 4"/>
          <p:cNvSpPr/>
          <p:nvPr/>
        </p:nvSpPr>
        <p:spPr>
          <a:xfrm>
            <a:off x="777240" y="274320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Sharp peaks at 08:00 and 17:00 on weekdays; flatter, later weekend curve.</a:t>
            </a:r>
            <a:endParaRPr lang="en-US" sz="1050" dirty="0"/>
          </a:p>
        </p:txBody>
      </p:sp>
      <p:sp>
        <p:nvSpPr>
          <p:cNvPr id="8" name="Shape 5"/>
          <p:cNvSpPr/>
          <p:nvPr/>
        </p:nvSpPr>
        <p:spPr>
          <a:xfrm>
            <a:off x="4389120" y="1371600"/>
            <a:ext cx="3611880" cy="2194560"/>
          </a:xfrm>
          <a:prstGeom prst="roundRect">
            <a:avLst>
              <a:gd name="adj" fmla="val 3333"/>
            </a:avLst>
          </a:prstGeom>
          <a:solidFill>
            <a:srgbClr val="F7F9FA"/>
          </a:solidFill>
          <a:ln/>
        </p:spPr>
      </p:sp>
      <p:sp>
        <p:nvSpPr>
          <p:cNvPr id="9" name="Shape 6"/>
          <p:cNvSpPr/>
          <p:nvPr/>
        </p:nvSpPr>
        <p:spPr>
          <a:xfrm>
            <a:off x="4617720" y="1600200"/>
            <a:ext cx="548640" cy="548640"/>
          </a:xfrm>
          <a:prstGeom prst="ellipse">
            <a:avLst/>
          </a:prstGeom>
          <a:solidFill>
            <a:srgbClr val="028090"/>
          </a:solidFill>
          <a:ln/>
        </p:spPr>
      </p:sp>
      <p:pic>
        <p:nvPicPr>
          <p:cNvPr id="10" name="Image 1" descr="icons/icon_cloudrain.png"/>
          <p:cNvPicPr>
            <a:picLocks noChangeAspect="1"/>
          </p:cNvPicPr>
          <p:nvPr/>
        </p:nvPicPr>
        <p:blipFill>
          <a:blip r:embed="rId4"/>
          <a:stretch>
            <a:fillRect/>
          </a:stretch>
        </p:blipFill>
        <p:spPr>
          <a:xfrm>
            <a:off x="4760366" y="1742846"/>
            <a:ext cx="263347" cy="263347"/>
          </a:xfrm>
          <a:prstGeom prst="rect">
            <a:avLst/>
          </a:prstGeom>
        </p:spPr>
      </p:pic>
      <p:sp>
        <p:nvSpPr>
          <p:cNvPr id="11" name="Text 7"/>
          <p:cNvSpPr/>
          <p:nvPr/>
        </p:nvSpPr>
        <p:spPr>
          <a:xfrm>
            <a:off x="4617720" y="228600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Weather cuts demand ~2x</a:t>
            </a:r>
            <a:endParaRPr lang="en-US" sz="1300" dirty="0"/>
          </a:p>
        </p:txBody>
      </p:sp>
      <p:sp>
        <p:nvSpPr>
          <p:cNvPr id="12" name="Text 8"/>
          <p:cNvSpPr/>
          <p:nvPr/>
        </p:nvSpPr>
        <p:spPr>
          <a:xfrm>
            <a:off x="4617720" y="274320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Light snow/rain days see roughly half the rentals of clear days.</a:t>
            </a:r>
            <a:endParaRPr lang="en-US" sz="1050" dirty="0"/>
          </a:p>
        </p:txBody>
      </p:sp>
      <p:sp>
        <p:nvSpPr>
          <p:cNvPr id="13" name="Shape 9"/>
          <p:cNvSpPr/>
          <p:nvPr/>
        </p:nvSpPr>
        <p:spPr>
          <a:xfrm>
            <a:off x="8229600" y="1371600"/>
            <a:ext cx="3611880" cy="2194560"/>
          </a:xfrm>
          <a:prstGeom prst="roundRect">
            <a:avLst>
              <a:gd name="adj" fmla="val 3333"/>
            </a:avLst>
          </a:prstGeom>
          <a:solidFill>
            <a:srgbClr val="F7F9FA"/>
          </a:solidFill>
          <a:ln/>
        </p:spPr>
      </p:sp>
      <p:sp>
        <p:nvSpPr>
          <p:cNvPr id="14" name="Shape 10"/>
          <p:cNvSpPr/>
          <p:nvPr/>
        </p:nvSpPr>
        <p:spPr>
          <a:xfrm>
            <a:off x="8458200" y="1600200"/>
            <a:ext cx="548640" cy="548640"/>
          </a:xfrm>
          <a:prstGeom prst="ellipse">
            <a:avLst/>
          </a:prstGeom>
          <a:solidFill>
            <a:srgbClr val="028090"/>
          </a:solidFill>
          <a:ln/>
        </p:spPr>
      </p:sp>
      <p:pic>
        <p:nvPicPr>
          <p:cNvPr id="15" name="Image 2" descr="icons/icon_users.png"/>
          <p:cNvPicPr>
            <a:picLocks noChangeAspect="1"/>
          </p:cNvPicPr>
          <p:nvPr/>
        </p:nvPicPr>
        <p:blipFill>
          <a:blip r:embed="rId5"/>
          <a:stretch>
            <a:fillRect/>
          </a:stretch>
        </p:blipFill>
        <p:spPr>
          <a:xfrm>
            <a:off x="8600846" y="1742846"/>
            <a:ext cx="263347" cy="263347"/>
          </a:xfrm>
          <a:prstGeom prst="rect">
            <a:avLst/>
          </a:prstGeom>
        </p:spPr>
      </p:pic>
      <p:sp>
        <p:nvSpPr>
          <p:cNvPr id="16" name="Text 11"/>
          <p:cNvSpPr/>
          <p:nvPr/>
        </p:nvSpPr>
        <p:spPr>
          <a:xfrm>
            <a:off x="8458200" y="228600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Registered riders dominate</a:t>
            </a:r>
            <a:endParaRPr lang="en-US" sz="1300" dirty="0"/>
          </a:p>
        </p:txBody>
      </p:sp>
      <p:sp>
        <p:nvSpPr>
          <p:cNvPr id="17" name="Text 12"/>
          <p:cNvSpPr/>
          <p:nvPr/>
        </p:nvSpPr>
        <p:spPr>
          <a:xfrm>
            <a:off x="8458200" y="274320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91.6% of all rentals come from registered users, not casual riders.</a:t>
            </a:r>
            <a:endParaRPr lang="en-US" sz="1050" dirty="0"/>
          </a:p>
        </p:txBody>
      </p:sp>
      <p:sp>
        <p:nvSpPr>
          <p:cNvPr id="18" name="Shape 13"/>
          <p:cNvSpPr/>
          <p:nvPr/>
        </p:nvSpPr>
        <p:spPr>
          <a:xfrm>
            <a:off x="548640" y="3840480"/>
            <a:ext cx="3611880" cy="2194560"/>
          </a:xfrm>
          <a:prstGeom prst="roundRect">
            <a:avLst>
              <a:gd name="adj" fmla="val 3333"/>
            </a:avLst>
          </a:prstGeom>
          <a:solidFill>
            <a:srgbClr val="F7F9FA"/>
          </a:solidFill>
          <a:ln/>
        </p:spPr>
      </p:sp>
      <p:sp>
        <p:nvSpPr>
          <p:cNvPr id="19" name="Shape 14"/>
          <p:cNvSpPr/>
          <p:nvPr/>
        </p:nvSpPr>
        <p:spPr>
          <a:xfrm>
            <a:off x="777240" y="4069080"/>
            <a:ext cx="548640" cy="548640"/>
          </a:xfrm>
          <a:prstGeom prst="ellipse">
            <a:avLst/>
          </a:prstGeom>
          <a:solidFill>
            <a:srgbClr val="028090"/>
          </a:solidFill>
          <a:ln/>
        </p:spPr>
      </p:sp>
      <p:pic>
        <p:nvPicPr>
          <p:cNvPr id="20" name="Image 3" descr="icons/icon_activity.png"/>
          <p:cNvPicPr>
            <a:picLocks noChangeAspect="1"/>
          </p:cNvPicPr>
          <p:nvPr/>
        </p:nvPicPr>
        <p:blipFill>
          <a:blip r:embed="rId6"/>
          <a:stretch>
            <a:fillRect/>
          </a:stretch>
        </p:blipFill>
        <p:spPr>
          <a:xfrm>
            <a:off x="919886" y="4211726"/>
            <a:ext cx="263347" cy="263347"/>
          </a:xfrm>
          <a:prstGeom prst="rect">
            <a:avLst/>
          </a:prstGeom>
        </p:spPr>
      </p:pic>
      <p:sp>
        <p:nvSpPr>
          <p:cNvPr id="21" name="Text 15"/>
          <p:cNvSpPr/>
          <p:nvPr/>
        </p:nvSpPr>
        <p:spPr>
          <a:xfrm>
            <a:off x="777240" y="475488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Weekdays are more volatile</a:t>
            </a:r>
            <a:endParaRPr lang="en-US" sz="1300" dirty="0"/>
          </a:p>
        </p:txBody>
      </p:sp>
      <p:sp>
        <p:nvSpPr>
          <p:cNvPr id="22" name="Text 16"/>
          <p:cNvSpPr/>
          <p:nvPr/>
        </p:nvSpPr>
        <p:spPr>
          <a:xfrm>
            <a:off x="777240" y="521208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Hour-to-hour swings are larger on weekdays than weekends.</a:t>
            </a:r>
            <a:endParaRPr lang="en-US" sz="1050" dirty="0"/>
          </a:p>
        </p:txBody>
      </p:sp>
      <p:sp>
        <p:nvSpPr>
          <p:cNvPr id="23" name="Shape 17"/>
          <p:cNvSpPr/>
          <p:nvPr/>
        </p:nvSpPr>
        <p:spPr>
          <a:xfrm>
            <a:off x="4389120" y="3840480"/>
            <a:ext cx="3611880" cy="2194560"/>
          </a:xfrm>
          <a:prstGeom prst="roundRect">
            <a:avLst>
              <a:gd name="adj" fmla="val 3333"/>
            </a:avLst>
          </a:prstGeom>
          <a:solidFill>
            <a:srgbClr val="F7F9FA"/>
          </a:solidFill>
          <a:ln/>
        </p:spPr>
      </p:sp>
      <p:sp>
        <p:nvSpPr>
          <p:cNvPr id="24" name="Shape 18"/>
          <p:cNvSpPr/>
          <p:nvPr/>
        </p:nvSpPr>
        <p:spPr>
          <a:xfrm>
            <a:off x="4617720" y="4069080"/>
            <a:ext cx="548640" cy="548640"/>
          </a:xfrm>
          <a:prstGeom prst="ellipse">
            <a:avLst/>
          </a:prstGeom>
          <a:solidFill>
            <a:srgbClr val="028090"/>
          </a:solidFill>
          <a:ln/>
        </p:spPr>
      </p:sp>
      <p:pic>
        <p:nvPicPr>
          <p:cNvPr id="25" name="Image 4" descr="icons/icon_droplet.png"/>
          <p:cNvPicPr>
            <a:picLocks noChangeAspect="1"/>
          </p:cNvPicPr>
          <p:nvPr/>
        </p:nvPicPr>
        <p:blipFill>
          <a:blip r:embed="rId7"/>
          <a:stretch>
            <a:fillRect/>
          </a:stretch>
        </p:blipFill>
        <p:spPr>
          <a:xfrm>
            <a:off x="4760366" y="4211726"/>
            <a:ext cx="263347" cy="263347"/>
          </a:xfrm>
          <a:prstGeom prst="rect">
            <a:avLst/>
          </a:prstGeom>
        </p:spPr>
      </p:pic>
      <p:sp>
        <p:nvSpPr>
          <p:cNvPr id="26" name="Text 19"/>
          <p:cNvSpPr/>
          <p:nvPr/>
        </p:nvSpPr>
        <p:spPr>
          <a:xfrm>
            <a:off x="4617720" y="475488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Humidity matters more than temperature</a:t>
            </a:r>
            <a:endParaRPr lang="en-US" sz="1300" dirty="0"/>
          </a:p>
        </p:txBody>
      </p:sp>
      <p:sp>
        <p:nvSpPr>
          <p:cNvPr id="27" name="Text 20"/>
          <p:cNvSpPr/>
          <p:nvPr/>
        </p:nvSpPr>
        <p:spPr>
          <a:xfrm>
            <a:off x="4617720" y="521208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Humidity (–0.25) has a stronger pull on demand than temperature (+0.23).</a:t>
            </a:r>
            <a:endParaRPr lang="en-US" sz="1050" dirty="0"/>
          </a:p>
        </p:txBody>
      </p:sp>
      <p:sp>
        <p:nvSpPr>
          <p:cNvPr id="28" name="Shape 21"/>
          <p:cNvSpPr/>
          <p:nvPr/>
        </p:nvSpPr>
        <p:spPr>
          <a:xfrm>
            <a:off x="8229600" y="3840480"/>
            <a:ext cx="3611880" cy="2194560"/>
          </a:xfrm>
          <a:prstGeom prst="roundRect">
            <a:avLst>
              <a:gd name="adj" fmla="val 3333"/>
            </a:avLst>
          </a:prstGeom>
          <a:solidFill>
            <a:srgbClr val="F7F9FA"/>
          </a:solidFill>
          <a:ln/>
        </p:spPr>
      </p:sp>
      <p:sp>
        <p:nvSpPr>
          <p:cNvPr id="29" name="Shape 22"/>
          <p:cNvSpPr/>
          <p:nvPr/>
        </p:nvSpPr>
        <p:spPr>
          <a:xfrm>
            <a:off x="8458200" y="4069080"/>
            <a:ext cx="548640" cy="548640"/>
          </a:xfrm>
          <a:prstGeom prst="ellipse">
            <a:avLst/>
          </a:prstGeom>
          <a:solidFill>
            <a:srgbClr val="028090"/>
          </a:solidFill>
          <a:ln/>
        </p:spPr>
      </p:sp>
      <p:pic>
        <p:nvPicPr>
          <p:cNvPr id="30" name="Image 5" descr="icons/icon_trendingup.png"/>
          <p:cNvPicPr>
            <a:picLocks noChangeAspect="1"/>
          </p:cNvPicPr>
          <p:nvPr/>
        </p:nvPicPr>
        <p:blipFill>
          <a:blip r:embed="rId8"/>
          <a:stretch>
            <a:fillRect/>
          </a:stretch>
        </p:blipFill>
        <p:spPr>
          <a:xfrm>
            <a:off x="8600846" y="4211726"/>
            <a:ext cx="263347" cy="263347"/>
          </a:xfrm>
          <a:prstGeom prst="rect">
            <a:avLst/>
          </a:prstGeom>
        </p:spPr>
      </p:pic>
      <p:sp>
        <p:nvSpPr>
          <p:cNvPr id="31" name="Text 23"/>
          <p:cNvSpPr/>
          <p:nvPr/>
        </p:nvSpPr>
        <p:spPr>
          <a:xfrm>
            <a:off x="8458200" y="4754880"/>
            <a:ext cx="3154680" cy="502920"/>
          </a:xfrm>
          <a:prstGeom prst="rect">
            <a:avLst/>
          </a:prstGeom>
          <a:noFill/>
          <a:ln/>
        </p:spPr>
        <p:txBody>
          <a:bodyPr wrap="square" rtlCol="0" anchor="ctr"/>
          <a:lstStyle/>
          <a:p>
            <a:pPr marL="0" indent="0">
              <a:buNone/>
            </a:pPr>
            <a:r>
              <a:rPr lang="en-US" sz="1300" b="1" dirty="0">
                <a:solidFill>
                  <a:srgbClr val="022C43"/>
                </a:solidFill>
                <a:latin typeface="Cambria" pitchFamily="34" charset="0"/>
                <a:ea typeface="Cambria" pitchFamily="34" charset="-122"/>
                <a:cs typeface="Cambria" pitchFamily="34" charset="-120"/>
              </a:rPr>
              <a:t>Demand trending gently upward</a:t>
            </a:r>
            <a:endParaRPr lang="en-US" sz="1300" dirty="0"/>
          </a:p>
        </p:txBody>
      </p:sp>
      <p:sp>
        <p:nvSpPr>
          <p:cNvPr id="32" name="Text 24"/>
          <p:cNvSpPr/>
          <p:nvPr/>
        </p:nvSpPr>
        <p:spPr>
          <a:xfrm>
            <a:off x="8458200" y="5212080"/>
            <a:ext cx="3154680" cy="777240"/>
          </a:xfrm>
          <a:prstGeom prst="rect">
            <a:avLst/>
          </a:prstGeom>
          <a:noFill/>
          <a:ln/>
        </p:spPr>
        <p:txBody>
          <a:bodyPr wrap="square" rtlCol="0" anchor="ctr"/>
          <a:lstStyle/>
          <a:p>
            <a:pPr marL="0" indent="0">
              <a:lnSpc>
                <a:spcPct val="115000"/>
              </a:lnSpc>
              <a:buNone/>
            </a:pPr>
            <a:r>
              <a:rPr lang="en-US" sz="1050" dirty="0">
                <a:solidFill>
                  <a:srgbClr val="6B7B80"/>
                </a:solidFill>
                <a:latin typeface="Calibri" pitchFamily="34" charset="0"/>
                <a:ea typeface="Calibri" pitchFamily="34" charset="-122"/>
                <a:cs typeface="Calibri" pitchFamily="34" charset="-120"/>
              </a:rPr>
              <a:t>27-day forecast shows a slow, steady rise from current levels.</a:t>
            </a:r>
            <a:endParaRPr lang="en-US" sz="1050" dirty="0"/>
          </a:p>
        </p:txBody>
      </p:sp>
    </p:spTree>
    <p:extLst>
      <p:ext uri="{BB962C8B-B14F-4D97-AF65-F5344CB8AC3E}">
        <p14:creationId xmlns:p14="http://schemas.microsoft.com/office/powerpoint/2010/main" val="1721366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028090"/>
          </a:solidFill>
          <a:ln/>
        </p:spPr>
      </p:sp>
      <p:sp>
        <p:nvSpPr>
          <p:cNvPr id="3" name="Text 1"/>
          <p:cNvSpPr/>
          <p:nvPr/>
        </p:nvSpPr>
        <p:spPr>
          <a:xfrm>
            <a:off x="548640" y="320040"/>
            <a:ext cx="91440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Recommendations</a:t>
            </a:r>
            <a:endParaRPr lang="en-US" sz="2800" dirty="0"/>
          </a:p>
        </p:txBody>
      </p:sp>
      <p:sp>
        <p:nvSpPr>
          <p:cNvPr id="4" name="Shape 2"/>
          <p:cNvSpPr/>
          <p:nvPr/>
        </p:nvSpPr>
        <p:spPr>
          <a:xfrm>
            <a:off x="548640" y="1600200"/>
            <a:ext cx="502920" cy="502920"/>
          </a:xfrm>
          <a:prstGeom prst="ellipse">
            <a:avLst/>
          </a:prstGeom>
          <a:solidFill>
            <a:srgbClr val="05668D"/>
          </a:solidFill>
          <a:ln/>
        </p:spPr>
      </p:sp>
      <p:pic>
        <p:nvPicPr>
          <p:cNvPr id="5" name="Image 0" descr="icons/icon_target.png"/>
          <p:cNvPicPr>
            <a:picLocks noChangeAspect="1"/>
          </p:cNvPicPr>
          <p:nvPr/>
        </p:nvPicPr>
        <p:blipFill>
          <a:blip r:embed="rId3"/>
          <a:stretch>
            <a:fillRect/>
          </a:stretch>
        </p:blipFill>
        <p:spPr>
          <a:xfrm>
            <a:off x="679399" y="1730959"/>
            <a:ext cx="241402" cy="241402"/>
          </a:xfrm>
          <a:prstGeom prst="rect">
            <a:avLst/>
          </a:prstGeom>
        </p:spPr>
      </p:pic>
      <p:sp>
        <p:nvSpPr>
          <p:cNvPr id="6" name="Text 3"/>
          <p:cNvSpPr/>
          <p:nvPr/>
        </p:nvSpPr>
        <p:spPr>
          <a:xfrm>
            <a:off x="1280160" y="1554480"/>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Align staffing to the two clear demand peaks (08:00 and 17:00–18:00) rather than spreading resources evenly through the day.</a:t>
            </a:r>
            <a:endParaRPr lang="en-US" sz="1350" dirty="0"/>
          </a:p>
        </p:txBody>
      </p:sp>
      <p:sp>
        <p:nvSpPr>
          <p:cNvPr id="7" name="Shape 4"/>
          <p:cNvSpPr/>
          <p:nvPr/>
        </p:nvSpPr>
        <p:spPr>
          <a:xfrm>
            <a:off x="548640" y="2404872"/>
            <a:ext cx="502920" cy="502920"/>
          </a:xfrm>
          <a:prstGeom prst="ellipse">
            <a:avLst/>
          </a:prstGeom>
          <a:solidFill>
            <a:srgbClr val="05668D"/>
          </a:solidFill>
          <a:ln/>
        </p:spPr>
      </p:sp>
      <p:pic>
        <p:nvPicPr>
          <p:cNvPr id="8" name="Image 1" descr="icons/icon_calendar.png"/>
          <p:cNvPicPr>
            <a:picLocks noChangeAspect="1"/>
          </p:cNvPicPr>
          <p:nvPr/>
        </p:nvPicPr>
        <p:blipFill>
          <a:blip r:embed="rId4"/>
          <a:stretch>
            <a:fillRect/>
          </a:stretch>
        </p:blipFill>
        <p:spPr>
          <a:xfrm>
            <a:off x="679399" y="2535631"/>
            <a:ext cx="241402" cy="241402"/>
          </a:xfrm>
          <a:prstGeom prst="rect">
            <a:avLst/>
          </a:prstGeom>
        </p:spPr>
      </p:pic>
      <p:sp>
        <p:nvSpPr>
          <p:cNvPr id="9" name="Text 5"/>
          <p:cNvSpPr/>
          <p:nvPr/>
        </p:nvSpPr>
        <p:spPr>
          <a:xfrm>
            <a:off x="1280160" y="2359152"/>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Run a lighter, later weekend redistribution schedule given the flatter, delayed demand curve.</a:t>
            </a:r>
            <a:endParaRPr lang="en-US" sz="1350" dirty="0"/>
          </a:p>
        </p:txBody>
      </p:sp>
      <p:sp>
        <p:nvSpPr>
          <p:cNvPr id="10" name="Shape 6"/>
          <p:cNvSpPr/>
          <p:nvPr/>
        </p:nvSpPr>
        <p:spPr>
          <a:xfrm>
            <a:off x="548640" y="3209544"/>
            <a:ext cx="502920" cy="502920"/>
          </a:xfrm>
          <a:prstGeom prst="ellipse">
            <a:avLst/>
          </a:prstGeom>
          <a:solidFill>
            <a:srgbClr val="05668D"/>
          </a:solidFill>
          <a:ln/>
        </p:spPr>
      </p:sp>
      <p:pic>
        <p:nvPicPr>
          <p:cNvPr id="11" name="Image 2" descr="icons/icon_cloudrain.png"/>
          <p:cNvPicPr>
            <a:picLocks noChangeAspect="1"/>
          </p:cNvPicPr>
          <p:nvPr/>
        </p:nvPicPr>
        <p:blipFill>
          <a:blip r:embed="rId5"/>
          <a:stretch>
            <a:fillRect/>
          </a:stretch>
        </p:blipFill>
        <p:spPr>
          <a:xfrm>
            <a:off x="679399" y="3340303"/>
            <a:ext cx="241402" cy="241402"/>
          </a:xfrm>
          <a:prstGeom prst="rect">
            <a:avLst/>
          </a:prstGeom>
        </p:spPr>
      </p:pic>
      <p:sp>
        <p:nvSpPr>
          <p:cNvPr id="12" name="Text 7"/>
          <p:cNvSpPr/>
          <p:nvPr/>
        </p:nvSpPr>
        <p:spPr>
          <a:xfrm>
            <a:off x="1280160" y="3163824"/>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Plan light-snow/rain days as low-demand days – roughly half the average rentals of clear weather.</a:t>
            </a:r>
            <a:endParaRPr lang="en-US" sz="1350" dirty="0"/>
          </a:p>
        </p:txBody>
      </p:sp>
      <p:sp>
        <p:nvSpPr>
          <p:cNvPr id="13" name="Shape 8"/>
          <p:cNvSpPr/>
          <p:nvPr/>
        </p:nvSpPr>
        <p:spPr>
          <a:xfrm>
            <a:off x="548640" y="4014216"/>
            <a:ext cx="502920" cy="502920"/>
          </a:xfrm>
          <a:prstGeom prst="ellipse">
            <a:avLst/>
          </a:prstGeom>
          <a:solidFill>
            <a:srgbClr val="05668D"/>
          </a:solidFill>
          <a:ln/>
        </p:spPr>
      </p:sp>
      <p:pic>
        <p:nvPicPr>
          <p:cNvPr id="14" name="Image 3" descr="icons/icon_alert.png"/>
          <p:cNvPicPr>
            <a:picLocks noChangeAspect="1"/>
          </p:cNvPicPr>
          <p:nvPr/>
        </p:nvPicPr>
        <p:blipFill>
          <a:blip r:embed="rId6"/>
          <a:stretch>
            <a:fillRect/>
          </a:stretch>
        </p:blipFill>
        <p:spPr>
          <a:xfrm>
            <a:off x="679399" y="4144975"/>
            <a:ext cx="241402" cy="241402"/>
          </a:xfrm>
          <a:prstGeom prst="rect">
            <a:avLst/>
          </a:prstGeom>
        </p:spPr>
      </p:pic>
      <p:sp>
        <p:nvSpPr>
          <p:cNvPr id="15" name="Text 9"/>
          <p:cNvSpPr/>
          <p:nvPr/>
        </p:nvSpPr>
        <p:spPr>
          <a:xfrm>
            <a:off x="1280160" y="3968496"/>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Monitor humidity, not just temperature, as the stronger weather signal for short-term demand dips.</a:t>
            </a:r>
            <a:endParaRPr lang="en-US" sz="1350" dirty="0"/>
          </a:p>
        </p:txBody>
      </p:sp>
      <p:sp>
        <p:nvSpPr>
          <p:cNvPr id="16" name="Shape 10"/>
          <p:cNvSpPr/>
          <p:nvPr/>
        </p:nvSpPr>
        <p:spPr>
          <a:xfrm>
            <a:off x="548640" y="4818888"/>
            <a:ext cx="502920" cy="502920"/>
          </a:xfrm>
          <a:prstGeom prst="ellipse">
            <a:avLst/>
          </a:prstGeom>
          <a:solidFill>
            <a:srgbClr val="05668D"/>
          </a:solidFill>
          <a:ln/>
        </p:spPr>
      </p:sp>
      <p:pic>
        <p:nvPicPr>
          <p:cNvPr id="17" name="Image 4" descr="icons/icon_trendingup.png"/>
          <p:cNvPicPr>
            <a:picLocks noChangeAspect="1"/>
          </p:cNvPicPr>
          <p:nvPr/>
        </p:nvPicPr>
        <p:blipFill>
          <a:blip r:embed="rId7"/>
          <a:stretch>
            <a:fillRect/>
          </a:stretch>
        </p:blipFill>
        <p:spPr>
          <a:xfrm>
            <a:off x="679399" y="4949647"/>
            <a:ext cx="241402" cy="241402"/>
          </a:xfrm>
          <a:prstGeom prst="rect">
            <a:avLst/>
          </a:prstGeom>
        </p:spPr>
      </p:pic>
      <p:sp>
        <p:nvSpPr>
          <p:cNvPr id="18" name="Text 11"/>
          <p:cNvSpPr/>
          <p:nvPr/>
        </p:nvSpPr>
        <p:spPr>
          <a:xfrm>
            <a:off x="1280160" y="4773168"/>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Re-run the forecast as new data arrives – the current 27-day projection rests on only 45 days of history.</a:t>
            </a:r>
            <a:endParaRPr lang="en-US" sz="1350" dirty="0"/>
          </a:p>
        </p:txBody>
      </p:sp>
      <p:sp>
        <p:nvSpPr>
          <p:cNvPr id="19" name="Shape 12"/>
          <p:cNvSpPr/>
          <p:nvPr/>
        </p:nvSpPr>
        <p:spPr>
          <a:xfrm>
            <a:off x="548640" y="5623560"/>
            <a:ext cx="502920" cy="502920"/>
          </a:xfrm>
          <a:prstGeom prst="ellipse">
            <a:avLst/>
          </a:prstGeom>
          <a:solidFill>
            <a:srgbClr val="05668D"/>
          </a:solidFill>
          <a:ln/>
        </p:spPr>
      </p:sp>
      <p:pic>
        <p:nvPicPr>
          <p:cNvPr id="20" name="Image 5" descr="icons/icon_checksquare.png"/>
          <p:cNvPicPr>
            <a:picLocks noChangeAspect="1"/>
          </p:cNvPicPr>
          <p:nvPr/>
        </p:nvPicPr>
        <p:blipFill>
          <a:blip r:embed="rId8"/>
          <a:stretch>
            <a:fillRect/>
          </a:stretch>
        </p:blipFill>
        <p:spPr>
          <a:xfrm>
            <a:off x="679399" y="5754319"/>
            <a:ext cx="241402" cy="241402"/>
          </a:xfrm>
          <a:prstGeom prst="rect">
            <a:avLst/>
          </a:prstGeom>
        </p:spPr>
      </p:pic>
      <p:sp>
        <p:nvSpPr>
          <p:cNvPr id="21" name="Text 13"/>
          <p:cNvSpPr/>
          <p:nvPr/>
        </p:nvSpPr>
        <p:spPr>
          <a:xfrm>
            <a:off x="1280160" y="5577840"/>
            <a:ext cx="10607040" cy="731520"/>
          </a:xfrm>
          <a:prstGeom prst="rect">
            <a:avLst/>
          </a:prstGeom>
          <a:noFill/>
          <a:ln/>
        </p:spPr>
        <p:txBody>
          <a:bodyPr wrap="square" rtlCol="0" anchor="ctr"/>
          <a:lstStyle/>
          <a:p>
            <a:pPr marL="0" indent="0">
              <a:buNone/>
            </a:pPr>
            <a:r>
              <a:rPr lang="en-US" sz="1350" dirty="0">
                <a:solidFill>
                  <a:srgbClr val="2B2B2B"/>
                </a:solidFill>
                <a:latin typeface="Calibri" pitchFamily="34" charset="0"/>
                <a:ea typeface="Calibri" pitchFamily="34" charset="-122"/>
                <a:cs typeface="Calibri" pitchFamily="34" charset="-120"/>
              </a:rPr>
              <a:t>Fix the two data items noted in the workbook review (season labels, missing feels-like-temperature values) before external circulation.</a:t>
            </a:r>
            <a:endParaRPr lang="en-US" sz="1350" dirty="0"/>
          </a:p>
        </p:txBody>
      </p:sp>
    </p:spTree>
    <p:extLst>
      <p:ext uri="{BB962C8B-B14F-4D97-AF65-F5344CB8AC3E}">
        <p14:creationId xmlns:p14="http://schemas.microsoft.com/office/powerpoint/2010/main" val="1251759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028090">
              <a:alpha val="30000"/>
            </a:srgbClr>
          </a:solidFill>
          <a:ln/>
        </p:spPr>
      </p:sp>
      <p:sp>
        <p:nvSpPr>
          <p:cNvPr id="3" name="Shape 1"/>
          <p:cNvSpPr/>
          <p:nvPr/>
        </p:nvSpPr>
        <p:spPr>
          <a:xfrm>
            <a:off x="9601200" y="3840480"/>
            <a:ext cx="5029200" cy="5029200"/>
          </a:xfrm>
          <a:prstGeom prst="ellipse">
            <a:avLst/>
          </a:prstGeom>
          <a:solidFill>
            <a:srgbClr val="05668D">
              <a:alpha val="30000"/>
            </a:srgbClr>
          </a:solidFill>
          <a:ln/>
        </p:spPr>
      </p:sp>
      <p:sp>
        <p:nvSpPr>
          <p:cNvPr id="4" name="Text 2"/>
          <p:cNvSpPr/>
          <p:nvPr/>
        </p:nvSpPr>
        <p:spPr>
          <a:xfrm>
            <a:off x="822960" y="2651760"/>
            <a:ext cx="9966960" cy="1280160"/>
          </a:xfrm>
          <a:prstGeom prst="rect">
            <a:avLst/>
          </a:prstGeom>
          <a:noFill/>
          <a:ln/>
        </p:spPr>
        <p:txBody>
          <a:bodyPr wrap="square" rtlCol="0" anchor="ctr"/>
          <a:lstStyle/>
          <a:p>
            <a:pPr marL="0" indent="0">
              <a:buNone/>
            </a:pPr>
            <a:r>
              <a:rPr lang="en-US" sz="4000" b="1" dirty="0" smtClean="0">
                <a:ln w="22225">
                  <a:solidFill>
                    <a:schemeClr val="accent2"/>
                  </a:solidFill>
                  <a:prstDash val="solid"/>
                </a:ln>
                <a:solidFill>
                  <a:schemeClr val="accent2">
                    <a:lumMod val="40000"/>
                    <a:lumOff val="60000"/>
                  </a:schemeClr>
                </a:solidFill>
                <a:latin typeface="Cambria" pitchFamily="34" charset="0"/>
                <a:ea typeface="Cambria" pitchFamily="34" charset="-122"/>
                <a:cs typeface="Cambria" pitchFamily="34" charset="-120"/>
              </a:rPr>
              <a:t>                              </a:t>
            </a:r>
            <a:r>
              <a:rPr lang="en-US" sz="6000" b="1" dirty="0" smtClean="0">
                <a:ln w="22225">
                  <a:solidFill>
                    <a:schemeClr val="accent2"/>
                  </a:solidFill>
                  <a:prstDash val="solid"/>
                </a:ln>
                <a:solidFill>
                  <a:schemeClr val="accent2">
                    <a:lumMod val="40000"/>
                    <a:lumOff val="60000"/>
                  </a:schemeClr>
                </a:solidFill>
                <a:latin typeface="Bahnschrift SemiCondensed" panose="020B0502040204020203" pitchFamily="34" charset="0"/>
                <a:ea typeface="Cambria" pitchFamily="34" charset="-122"/>
                <a:cs typeface="Cambria" pitchFamily="34" charset="-120"/>
              </a:rPr>
              <a:t>Thank </a:t>
            </a:r>
            <a:r>
              <a:rPr lang="en-US" sz="6000" b="1" dirty="0">
                <a:ln w="22225">
                  <a:solidFill>
                    <a:schemeClr val="accent2"/>
                  </a:solidFill>
                  <a:prstDash val="solid"/>
                </a:ln>
                <a:solidFill>
                  <a:schemeClr val="accent2">
                    <a:lumMod val="40000"/>
                    <a:lumOff val="60000"/>
                  </a:schemeClr>
                </a:solidFill>
                <a:latin typeface="Bahnschrift SemiCondensed" panose="020B0502040204020203" pitchFamily="34" charset="0"/>
                <a:ea typeface="Cambria" pitchFamily="34" charset="-122"/>
                <a:cs typeface="Cambria" pitchFamily="34" charset="-120"/>
              </a:rPr>
              <a:t>You</a:t>
            </a:r>
            <a:endParaRPr lang="en-US" sz="6000" b="1" dirty="0">
              <a:ln w="22225">
                <a:solidFill>
                  <a:schemeClr val="accent2"/>
                </a:solidFill>
                <a:prstDash val="solid"/>
              </a:ln>
              <a:solidFill>
                <a:schemeClr val="accent2">
                  <a:lumMod val="40000"/>
                  <a:lumOff val="60000"/>
                </a:schemeClr>
              </a:solidFill>
              <a:latin typeface="Bahnschrift SemiCondensed" panose="020B0502040204020203" pitchFamily="34" charset="0"/>
            </a:endParaRPr>
          </a:p>
        </p:txBody>
      </p:sp>
      <p:sp>
        <p:nvSpPr>
          <p:cNvPr id="5" name="Text 3"/>
          <p:cNvSpPr/>
          <p:nvPr/>
        </p:nvSpPr>
        <p:spPr>
          <a:xfrm>
            <a:off x="822960" y="3520440"/>
            <a:ext cx="9144000" cy="457200"/>
          </a:xfrm>
          <a:prstGeom prst="rect">
            <a:avLst/>
          </a:prstGeom>
          <a:noFill/>
          <a:ln/>
        </p:spPr>
        <p:txBody>
          <a:bodyPr wrap="square" rtlCol="0" anchor="ctr"/>
          <a:lstStyle/>
          <a:p>
            <a:pPr marL="0" indent="0">
              <a:buNone/>
            </a:pPr>
            <a:endParaRPr lang="en-US" sz="1700" dirty="0"/>
          </a:p>
        </p:txBody>
      </p:sp>
      <p:sp>
        <p:nvSpPr>
          <p:cNvPr id="6" name="Text 4"/>
          <p:cNvSpPr/>
          <p:nvPr/>
        </p:nvSpPr>
        <p:spPr>
          <a:xfrm>
            <a:off x="822960" y="6126480"/>
            <a:ext cx="9144000" cy="365760"/>
          </a:xfrm>
          <a:prstGeom prst="rect">
            <a:avLst/>
          </a:prstGeom>
          <a:noFill/>
          <a:ln/>
        </p:spPr>
        <p:txBody>
          <a:bodyPr wrap="square" rtlCol="0" anchor="ctr"/>
          <a:lstStyle/>
          <a:p>
            <a:pPr marL="0" indent="0">
              <a:buNone/>
            </a:pPr>
            <a:r>
              <a:rPr lang="en-US" sz="1200" dirty="0">
                <a:solidFill>
                  <a:srgbClr val="8FB9C4"/>
                </a:solidFill>
                <a:latin typeface="Calibri" pitchFamily="34" charset="0"/>
                <a:ea typeface="Calibri" pitchFamily="34" charset="-122"/>
                <a:cs typeface="Calibri" pitchFamily="34" charset="-120"/>
              </a:rPr>
              <a:t>Full workbook: Bike_Sharing_Analysis.xlsx  |  NextHikes IT Solutions</a:t>
            </a:r>
            <a:endParaRPr lang="en-US" sz="1200" dirty="0"/>
          </a:p>
        </p:txBody>
      </p:sp>
    </p:spTree>
    <p:extLst>
      <p:ext uri="{BB962C8B-B14F-4D97-AF65-F5344CB8AC3E}">
        <p14:creationId xmlns:p14="http://schemas.microsoft.com/office/powerpoint/2010/main" val="1141648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815</Words>
  <Application>Microsoft Office PowerPoint</Application>
  <PresentationFormat>Widescreen</PresentationFormat>
  <Paragraphs>126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Bahnschrift SemiCondensed</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2</cp:revision>
  <dcterms:created xsi:type="dcterms:W3CDTF">2026-07-25T16:07:47Z</dcterms:created>
  <dcterms:modified xsi:type="dcterms:W3CDTF">2026-07-25T16:13:36Z</dcterms:modified>
</cp:coreProperties>
</file>